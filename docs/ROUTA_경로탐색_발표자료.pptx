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74" d="100"/>
          <a:sy n="174" d="100"/>
        </p:scale>
        <p:origin x="-392" y="-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멘트:</a:t>
            </a:r>
          </a:p>
          <a:p>
            <a:r>
              <a:t>ROUTA의 경로 추천은 장소를 가까운 순서로 단순 연결하는 기능이 아닙니다.</a:t>
            </a:r>
          </a:p>
          <a:p>
            <a:r>
              <a:t>여행자가 입력한 출발·종료 시간, 방문 장소, 식사 시간, 영업 조건을 모두 만족하는 방문 순서를 찾습니다.</a:t>
            </a:r>
          </a:p>
          <a:p>
            <a:r>
              <a:t>오늘은 이 과정에서 탐색량을 줄이는 Branch-and-Bound와 실제 이동 데이터를 붙이는 방식을 실제 서버 코드로 설명하겠습니다.</a:t>
            </a:r>
          </a:p>
          <a:p>
            <a:r>
              <a:t>코드 위치: Server/src/modules/recommendations/recommendation.service.mjs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멘트:</a:t>
            </a:r>
          </a:p>
          <a:p>
            <a:r>
              <a:t>ROUTA는 방문 장소를 최대 5개로 제한하고, 점심과 저녁까지 포함하면 최대 7개의 후보를 다룹니다.</a:t>
            </a:r>
          </a:p>
          <a:p>
            <a:r>
              <a:t>7개의 방문 순서를 모두 비교하면 이론상 7!, 즉 5,040가지입니다. 실제로는 식사 시간 순서도 제한하지만, 장소 수가 증가할수록 탐색량이 커진다는 점은 같습니다.</a:t>
            </a:r>
          </a:p>
          <a:p>
            <a:r>
              <a:t>따라서 ROUTA는 세 단계의 가지치기를 적용합니다. 먼저 불가능한 일정, 다음으로 이미 최적보다 나쁜 일정, 마지막으로 같은 상태를 다시 만든 일정입니다.</a:t>
            </a:r>
          </a:p>
          <a:p>
            <a:r>
              <a:t>다음 슬라이드부터 이 세 가지를 코드와 함께 보겠습니다.</a:t>
            </a:r>
          </a:p>
          <a:p>
            <a:r>
              <a:t>코드 위치: recommendation.service.mjs 상수 및 explore 함수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멘트:</a:t>
            </a:r>
          </a:p>
          <a:p>
            <a:r>
              <a:t>첫 번째 가지치기는 일정의 실행 가능성을 확인하는 단계입니다.</a:t>
            </a:r>
          </a:p>
          <a:p>
            <a:r>
              <a:t>evaluatePlaceVisit 함수에 현재 도착 시간과 체류 시간을 전달하면, 해당 장소가 영업 중인지, 식사 시간 조건을 맞출 수 있는지 등을 계산합니다.</a:t>
            </a:r>
          </a:p>
          <a:p>
            <a:r>
              <a:t>방문이 불가능하면 return null이 실행됩니다. 상위 탐색 함수는 null을 받은 경로를 이어서 탐색하지 않기 때문에, 애초에 실행 불가능한 일정은 추천 후보가 되지 않습니다.</a:t>
            </a:r>
          </a:p>
          <a:p>
            <a:r>
              <a:t>또한 예약이 아닌 장소에서 대기가 60분을 넘거나, 여행 종료 시간을 넘는 경우도 같은 방식으로 분기를 잘라냅니다.</a:t>
            </a:r>
          </a:p>
          <a:p>
            <a:r>
              <a:t>발표 포인트: return null은 오류가 아니라, '이 경로 후보는 더 볼 필요가 없다'는 탐색 제어 신호입니다.</a:t>
            </a:r>
          </a:p>
          <a:p>
            <a:r>
              <a:t>코드 위치: recommendation.service.mjs:531–575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멘트:</a:t>
            </a:r>
          </a:p>
          <a:p>
            <a:r>
              <a:t>두 번째 가지치기가 Branch-and-Bound의 핵심입니다.</a:t>
            </a:r>
          </a:p>
          <a:p>
            <a:r>
              <a:t>먼저 현재까지 만들어진 경로의 점수를 계산합니다. 이미 찾은 최적 경로의 점수보다 현재 점수가 크거나 같다면, 뒤에 장소를 더 추가해도 이동 시간·도보 거리·요금은 음수가 될 수 없기 때문에 더 좋은 결과가 될 수 없습니다.</a:t>
            </a:r>
          </a:p>
          <a:p>
            <a:r>
              <a:t>그래서 prunedByBound를 증가시키고 바로 return 합니다. 이것이 Bound, 즉 하한을 이용한 탐색 중단입니다.</a:t>
            </a:r>
          </a:p>
          <a:p>
            <a:r>
              <a:t>추가로 exactStateKey로 현재 장소·시간·남은 장소가 같은 상태를 구분합니다. 같은 상태를 더 높은 점수로 다시 만들었다면 memoization으로 한 번 더 제외합니다.</a:t>
            </a:r>
          </a:p>
          <a:p>
            <a:r>
              <a:t>발표 포인트: Branch-and-Bound만이 아니라, 메모이제이션을 함께 사용해 중복 상태도 줄였습니다.</a:t>
            </a:r>
          </a:p>
          <a:p>
            <a:r>
              <a:t>코드 위치: recommendation.service.mjs:882–901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멘트:</a:t>
            </a:r>
          </a:p>
          <a:p>
            <a:r>
              <a:t>방문 순서를 탐색할 때 필요한 구간별 이동 정보는 실제 길찾기 결과를 사용합니다.</a:t>
            </a:r>
          </a:p>
          <a:p>
            <a:r>
              <a:t>코드처럼 두 장소 사이가 700미터 미만이면 대중교통보다 자연스러운 카카오 도보 경로를 먼저 사용합니다. 그 이상은 ODsay에 대중교통 경로 후보를 요청합니다.</a:t>
            </a:r>
          </a:p>
          <a:p>
            <a:r>
              <a:t>같은 장소 쌍은 여러 탐색 분기에서 반복해서 등장할 수 있습니다. 그래서 출발지, 도착지, 탐색 옵션이 동일한 요청은 15분 동안 캐시에서 재사용합니다.</a:t>
            </a:r>
          </a:p>
          <a:p>
            <a:r>
              <a:t>이 처리는 API 호출 수와 응답 시간을 줄이는 역할을 합니다. ODsay에 대중교통 후보가 없으면 카카오 도보 경로로 안전하게 이어지는 fallback도 구현했습니다.</a:t>
            </a:r>
          </a:p>
          <a:p>
            <a:r>
              <a:t>코드 위치: providers/odsay.mjs:251–320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멘트:</a:t>
            </a:r>
          </a:p>
          <a:p>
            <a:r>
              <a:t>마지막으로 ROUTA는 하나의 경로만 강요하지 않습니다. 같은 방문 순서 안에서도 대중교통 후보를 어떤 기준으로 고르는지에 따라 서로 다른 코스를 만듭니다.</a:t>
            </a:r>
          </a:p>
          <a:p>
            <a:r>
              <a:t>도보 최소 코스는 걷는 거리, 최단 시간 코스는 전체 소요 시간, 균형 코스는 시간·도보·환승·요금을 함께 비교합니다.</a:t>
            </a:r>
          </a:p>
          <a:p>
            <a:r>
              <a:t>오른쪽 카드의 우선순위가 왼쪽 실제 코드의 비교 순서와 연결됩니다. 즉, 결과 화면의 세 탭은 단순한 디자인 차이가 아니라 서버의 서로 다른 평가 기준에서 나온 결과입니다.</a:t>
            </a:r>
          </a:p>
          <a:p>
            <a:r>
              <a:t>정리하면 ROUTA는 제약 조건으로 불가능한 일정을 제거하고, Branch-and-Bound로 탐색을 줄이며, 실제 길찾기 데이터를 기준으로 사용자 선택지를 제공합니다.</a:t>
            </a:r>
          </a:p>
          <a:p>
            <a:r>
              <a:t>코드 위치: recommendation.scorer.mjs:48–75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C421EE51-1DA2-4453-8671-0B252B53DF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A28E55-CF04-4EF2-ACCF-ECAD8D3F0AF2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B35F6"/>
                </a:solidFill>
              </a:defRPr>
            </a:pPr>
            <a:r>
              <a:rPr sz="1350" b="1">
                <a:solidFill>
                  <a:srgbClr val="4B35F6"/>
                </a:solidFill>
              </a:rPr>
              <a:t>ROUTA · Route Recommendation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90C4BBD-016E-4A79-8F23-2C20AAD8A9B9}"/>
              </a:ext>
            </a:extLst>
          </p:cNvPr>
          <p:cNvSpPr>
            <a:spLocks noGrp="1"/>
          </p:cNvSpPr>
          <p:nvPr/>
        </p:nvSpPr>
        <p:spPr>
          <a:xfrm>
            <a:off x="685800" y="1285875"/>
            <a:ext cx="514350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50" b="1">
                <a:solidFill>
                  <a:srgbClr val="0B1736"/>
                </a:solidFill>
              </a:defRPr>
            </a:pPr>
            <a:r>
              <a:rPr sz="3750" b="1">
                <a:solidFill>
                  <a:srgbClr val="0B1736"/>
                </a:solidFill>
              </a:rPr>
              <a:t>가능한 일정만</a:t>
            </a:r>
          </a:p>
          <a:p>
            <a:pPr>
              <a:defRPr sz="3750" b="1">
                <a:solidFill>
                  <a:srgbClr val="0B1736"/>
                </a:solidFill>
              </a:defRPr>
            </a:pPr>
            <a:r>
              <a:rPr sz="3750" b="1">
                <a:solidFill>
                  <a:srgbClr val="0B1736"/>
                </a:solidFill>
              </a:rPr>
              <a:t>빠르게 찾는</a:t>
            </a:r>
          </a:p>
          <a:p>
            <a:pPr>
              <a:defRPr sz="3750" b="1">
                <a:solidFill>
                  <a:srgbClr val="0B1736"/>
                </a:solidFill>
              </a:defRPr>
            </a:pPr>
            <a:r>
              <a:rPr sz="3750" b="1">
                <a:solidFill>
                  <a:srgbClr val="0B1736"/>
                </a:solidFill>
              </a:rPr>
              <a:t>여행 경로 탐색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6C349A-372D-4B36-9ED2-3ED326B71AE7}"/>
              </a:ext>
            </a:extLst>
          </p:cNvPr>
          <p:cNvSpPr>
            <a:spLocks noGrp="1"/>
          </p:cNvSpPr>
          <p:nvPr/>
        </p:nvSpPr>
        <p:spPr>
          <a:xfrm>
            <a:off x="723900" y="3790950"/>
            <a:ext cx="495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66718A"/>
                </a:solidFill>
              </a:defRPr>
            </a:pPr>
            <a:r>
              <a:rPr sz="1500">
                <a:solidFill>
                  <a:srgbClr val="66718A"/>
                </a:solidFill>
              </a:rPr>
              <a:t>Branch-and-Bound와 실제 길찾기 API를 결합해</a:t>
            </a:r>
          </a:p>
          <a:p>
            <a:pPr>
              <a:defRPr sz="1500">
                <a:solidFill>
                  <a:srgbClr val="66718A"/>
                </a:solidFill>
              </a:defRPr>
            </a:pPr>
            <a:r>
              <a:rPr sz="1500">
                <a:solidFill>
                  <a:srgbClr val="66718A"/>
                </a:solidFill>
              </a:rPr>
              <a:t>시간·영업·식사 조건을 만족하는 코스를 추천합니다.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47BC423-2DF6-4713-B86D-72A1B0E4E5AD}"/>
              </a:ext>
            </a:extLst>
          </p:cNvPr>
          <p:cNvSpPr>
            <a:spLocks noGrp="1"/>
          </p:cNvSpPr>
          <p:nvPr/>
        </p:nvSpPr>
        <p:spPr>
          <a:xfrm>
            <a:off x="723900" y="4714875"/>
            <a:ext cx="2114550" cy="323850"/>
          </a:xfrm>
          <a:prstGeom prst="roundRect">
            <a:avLst>
              <a:gd name="adj" fmla="val 50000"/>
            </a:avLst>
          </a:prstGeom>
          <a:solidFill>
            <a:srgbClr val="EEEAFE"/>
          </a:solidFill>
          <a:ln w="0">
            <a:solidFill>
              <a:srgbClr val="EE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C9E664-3E6E-4A12-BBA8-BD2F40D720EA}"/>
              </a:ext>
            </a:extLst>
          </p:cNvPr>
          <p:cNvSpPr>
            <a:spLocks noGrp="1"/>
          </p:cNvSpPr>
          <p:nvPr/>
        </p:nvSpPr>
        <p:spPr>
          <a:xfrm>
            <a:off x="857250" y="4772025"/>
            <a:ext cx="1847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4B35F6"/>
                </a:solidFill>
              </a:defRPr>
            </a:pPr>
            <a:r>
              <a:rPr sz="1125" b="1">
                <a:solidFill>
                  <a:srgbClr val="4B35F6"/>
                </a:solidFill>
              </a:rPr>
              <a:t>실제 서버 구현 코드 기준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rcRect l="18733" r="18733"/>
          <a:stretch>
            <a:fillRect/>
          </a:stretch>
        </p:blipFill>
        <p:spPr>
          <a:xfrm>
            <a:off x="5886450" y="857250"/>
            <a:ext cx="5619750" cy="5057775"/>
          </a:xfrm>
          <a:prstGeom prst="roundRect">
            <a:avLst>
              <a:gd name="adj" fmla="val 3013"/>
            </a:avLst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140AA6E-2267-4616-B97D-0AD3384BECC8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10896600" cy="9525"/>
          </a:xfrm>
          <a:prstGeom prst="rect">
            <a:avLst/>
          </a:prstGeom>
          <a:solidFill>
            <a:srgbClr val="DFE3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4A07AA-3AB9-433B-855F-DAE14262237F}"/>
              </a:ext>
            </a:extLst>
          </p:cNvPr>
          <p:cNvSpPr>
            <a:spLocks noGrp="1"/>
          </p:cNvSpPr>
          <p:nvPr/>
        </p:nvSpPr>
        <p:spPr>
          <a:xfrm>
            <a:off x="647700" y="659130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6718A"/>
                </a:solidFill>
              </a:defRPr>
            </a:pPr>
            <a:r>
              <a:rPr sz="900">
                <a:solidFill>
                  <a:srgbClr val="66718A"/>
                </a:solidFill>
              </a:rPr>
              <a:t>ROUTA  |  Route Recommendation Engine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1FA2AC2-5D29-4752-B457-28274B872C63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60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6718A"/>
                </a:solidFill>
              </a:defRPr>
            </a:pPr>
            <a:r>
              <a:rPr sz="900">
                <a:solidFill>
                  <a:srgbClr val="66718A"/>
                </a:solidFill>
              </a:rPr>
              <a:t>1 / 6</a:t>
            </a:r>
          </a:p>
        </p:txBody>
      </p:sp>
    </p:spTree>
    <p:extLst>
      <p:ext uri="{BB962C8B-B14F-4D97-AF65-F5344CB8AC3E}">
        <p14:creationId xmlns:p14="http://schemas.microsoft.com/office/powerpoint/2010/main" val="2109797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E4FF2C70-A1F8-4A26-8507-1759FE92AC21}"/>
              </a:ext>
            </a:extLst>
          </p:cNvPr>
          <p:cNvSpPr>
            <a:spLocks noGrp="1"/>
          </p:cNvSpPr>
          <p:nvPr/>
        </p:nvSpPr>
        <p:spPr>
          <a:xfrm>
            <a:off x="647700" y="4381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4B35F6"/>
                </a:solidFill>
              </a:defRPr>
            </a:pPr>
            <a:r>
              <a:rPr sz="1125" b="1">
                <a:solidFill>
                  <a:srgbClr val="4B35F6"/>
                </a:solidFill>
              </a:rPr>
              <a:t>02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BAD7D2-6F2C-41F2-8B99-9DD2BFD12108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685800" cy="38100"/>
          </a:xfrm>
          <a:prstGeom prst="rect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54023E5-72C1-4B62-997F-03FC49977462}"/>
              </a:ext>
            </a:extLst>
          </p:cNvPr>
          <p:cNvSpPr>
            <a:spLocks noGrp="1"/>
          </p:cNvSpPr>
          <p:nvPr/>
        </p:nvSpPr>
        <p:spPr>
          <a:xfrm>
            <a:off x="647700" y="96202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 b="1">
                <a:solidFill>
                  <a:srgbClr val="0B1736"/>
                </a:solidFill>
              </a:defRPr>
            </a:pPr>
            <a:r>
              <a:rPr sz="2775" b="1">
                <a:solidFill>
                  <a:srgbClr val="0B1736"/>
                </a:solidFill>
              </a:rPr>
              <a:t>장소가 늘수록 방문 순서의 경우의 수가 급격히 늘어납니다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9006AC4-216A-418E-99F7-466285CD9A11}"/>
              </a:ext>
            </a:extLst>
          </p:cNvPr>
          <p:cNvSpPr>
            <a:spLocks noGrp="1"/>
          </p:cNvSpPr>
          <p:nvPr/>
        </p:nvSpPr>
        <p:spPr>
          <a:xfrm>
            <a:off x="666750" y="1495425"/>
            <a:ext cx="1028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6718A"/>
                </a:solidFill>
              </a:defRPr>
            </a:pPr>
            <a:r>
              <a:rPr sz="1350">
                <a:solidFill>
                  <a:srgbClr val="66718A"/>
                </a:solidFill>
              </a:rPr>
              <a:t>그래서 모든 경로를 끝까지 계산하지 않고, 불가능하거나 불리한 후보를 중간에 제외합니다.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FBB227-1DBB-4F90-A269-BB8342E57A65}"/>
              </a:ext>
            </a:extLst>
          </p:cNvPr>
          <p:cNvSpPr>
            <a:spLocks noGrp="1"/>
          </p:cNvSpPr>
          <p:nvPr/>
        </p:nvSpPr>
        <p:spPr>
          <a:xfrm>
            <a:off x="762000" y="23145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>
                <a:solidFill>
                  <a:srgbClr val="66718A"/>
                </a:solidFill>
              </a:defRPr>
            </a:pPr>
            <a:r>
              <a:rPr sz="1500">
                <a:solidFill>
                  <a:srgbClr val="66718A"/>
                </a:solidFill>
              </a:rPr>
              <a:t>방문 장소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D767E42-3CDC-4F14-B04F-935C31749A32}"/>
              </a:ext>
            </a:extLst>
          </p:cNvPr>
          <p:cNvSpPr>
            <a:spLocks noGrp="1"/>
          </p:cNvSpPr>
          <p:nvPr/>
        </p:nvSpPr>
        <p:spPr>
          <a:xfrm>
            <a:off x="762000" y="2638425"/>
            <a:ext cx="171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950" b="1">
                <a:solidFill>
                  <a:srgbClr val="4B35F6"/>
                </a:solidFill>
              </a:defRPr>
            </a:pPr>
            <a:r>
              <a:rPr sz="4950" b="1">
                <a:solidFill>
                  <a:srgbClr val="4B35F6"/>
                </a:solidFill>
              </a:rPr>
              <a:t>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D35E730-0C03-4665-B47E-A447A56218E9}"/>
              </a:ext>
            </a:extLst>
          </p:cNvPr>
          <p:cNvSpPr>
            <a:spLocks noGrp="1"/>
          </p:cNvSpPr>
          <p:nvPr/>
        </p:nvSpPr>
        <p:spPr>
          <a:xfrm>
            <a:off x="3371850" y="23145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>
                <a:solidFill>
                  <a:srgbClr val="66718A"/>
                </a:solidFill>
              </a:defRPr>
            </a:pPr>
            <a:r>
              <a:rPr sz="1500">
                <a:solidFill>
                  <a:srgbClr val="66718A"/>
                </a:solidFill>
              </a:rPr>
              <a:t>식사 후보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26C51E-DDB4-423D-95F1-13D263B65757}"/>
              </a:ext>
            </a:extLst>
          </p:cNvPr>
          <p:cNvSpPr>
            <a:spLocks noGrp="1"/>
          </p:cNvSpPr>
          <p:nvPr/>
        </p:nvSpPr>
        <p:spPr>
          <a:xfrm>
            <a:off x="3371850" y="2638425"/>
            <a:ext cx="171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950" b="1">
                <a:solidFill>
                  <a:srgbClr val="18C7B1"/>
                </a:solidFill>
              </a:defRPr>
            </a:pPr>
            <a:r>
              <a:rPr sz="4950" b="1">
                <a:solidFill>
                  <a:srgbClr val="18C7B1"/>
                </a:solidFill>
              </a:rPr>
              <a:t>+2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AD29FB5-B345-4043-AD51-8326DB96F56F}"/>
              </a:ext>
            </a:extLst>
          </p:cNvPr>
          <p:cNvSpPr>
            <a:spLocks noGrp="1"/>
          </p:cNvSpPr>
          <p:nvPr/>
        </p:nvSpPr>
        <p:spPr>
          <a:xfrm>
            <a:off x="5981700" y="23145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>
                <a:solidFill>
                  <a:srgbClr val="66718A"/>
                </a:solidFill>
              </a:defRPr>
            </a:pPr>
            <a:r>
              <a:rPr sz="1500">
                <a:solidFill>
                  <a:srgbClr val="66718A"/>
                </a:solidFill>
              </a:rPr>
              <a:t>최대 후보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9515084-2B1F-4DD9-A2E6-70DD938C9FB6}"/>
              </a:ext>
            </a:extLst>
          </p:cNvPr>
          <p:cNvSpPr>
            <a:spLocks noGrp="1"/>
          </p:cNvSpPr>
          <p:nvPr/>
        </p:nvSpPr>
        <p:spPr>
          <a:xfrm>
            <a:off x="5981700" y="2638425"/>
            <a:ext cx="171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950" b="1">
                <a:solidFill>
                  <a:srgbClr val="0B1736"/>
                </a:solidFill>
              </a:defRPr>
            </a:pPr>
            <a:r>
              <a:rPr sz="4950" b="1">
                <a:solidFill>
                  <a:srgbClr val="0B1736"/>
                </a:solidFill>
              </a:rPr>
              <a:t>7</a:t>
            </a:r>
          </a:p>
        </p:txBody>
      </p:sp>
      <p:sp>
        <p:nvSpPr>
          <p:cNvPr id="11" name="오른쪽 화살표[R] 10">
            <a:extLst>
              <a:ext uri="{FF2B5EF4-FFF2-40B4-BE49-F238E27FC236}">
                <a16:creationId xmlns:a16="http://schemas.microsoft.com/office/drawing/2014/main" id="{79C0DB32-17B5-422D-B289-D9ED829CFBFF}"/>
              </a:ext>
            </a:extLst>
          </p:cNvPr>
          <p:cNvSpPr>
            <a:spLocks noGrp="1"/>
          </p:cNvSpPr>
          <p:nvPr/>
        </p:nvSpPr>
        <p:spPr>
          <a:xfrm>
            <a:off x="2619375" y="2800350"/>
            <a:ext cx="495300" cy="285750"/>
          </a:xfrm>
          <a:prstGeom prst="rightArrow">
            <a:avLst/>
          </a:prstGeom>
          <a:solidFill>
            <a:srgbClr val="DFE3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오른쪽 화살표[R] 11">
            <a:extLst>
              <a:ext uri="{FF2B5EF4-FFF2-40B4-BE49-F238E27FC236}">
                <a16:creationId xmlns:a16="http://schemas.microsoft.com/office/drawing/2014/main" id="{A20B885A-EB49-4F01-9216-09F2FD5CEC21}"/>
              </a:ext>
            </a:extLst>
          </p:cNvPr>
          <p:cNvSpPr>
            <a:spLocks noGrp="1"/>
          </p:cNvSpPr>
          <p:nvPr/>
        </p:nvSpPr>
        <p:spPr>
          <a:xfrm>
            <a:off x="5229225" y="2800350"/>
            <a:ext cx="495300" cy="285750"/>
          </a:xfrm>
          <a:prstGeom prst="rightArrow">
            <a:avLst/>
          </a:prstGeom>
          <a:solidFill>
            <a:srgbClr val="DFE3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C69940A0-3D6A-4361-9663-2B95B70D74DF}"/>
              </a:ext>
            </a:extLst>
          </p:cNvPr>
          <p:cNvSpPr>
            <a:spLocks noGrp="1"/>
          </p:cNvSpPr>
          <p:nvPr/>
        </p:nvSpPr>
        <p:spPr>
          <a:xfrm>
            <a:off x="8315325" y="2143125"/>
            <a:ext cx="2705100" cy="1600200"/>
          </a:xfrm>
          <a:prstGeom prst="roundRect">
            <a:avLst>
              <a:gd name="adj" fmla="val 9524"/>
            </a:avLst>
          </a:prstGeom>
          <a:solidFill>
            <a:srgbClr val="0B1736"/>
          </a:solidFill>
          <a:ln w="0">
            <a:solidFill>
              <a:srgbClr val="0B17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E0AF6D-B52D-4035-999B-1EBED1F48149}"/>
              </a:ext>
            </a:extLst>
          </p:cNvPr>
          <p:cNvSpPr>
            <a:spLocks noGrp="1"/>
          </p:cNvSpPr>
          <p:nvPr/>
        </p:nvSpPr>
        <p:spPr>
          <a:xfrm>
            <a:off x="8572500" y="24288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C7D1EC"/>
                </a:solidFill>
              </a:defRPr>
            </a:pPr>
            <a:r>
              <a:rPr sz="1350">
                <a:solidFill>
                  <a:srgbClr val="C7D1EC"/>
                </a:solidFill>
              </a:rPr>
              <a:t>최대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4CA1F4E-D8E4-452A-97E0-783F7A33956A}"/>
              </a:ext>
            </a:extLst>
          </p:cNvPr>
          <p:cNvSpPr>
            <a:spLocks noGrp="1"/>
          </p:cNvSpPr>
          <p:nvPr/>
        </p:nvSpPr>
        <p:spPr>
          <a:xfrm>
            <a:off x="8477250" y="2790825"/>
            <a:ext cx="22860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5,040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E224FA5-9A5B-4AD9-9AB7-0E7B1B515FD5}"/>
              </a:ext>
            </a:extLst>
          </p:cNvPr>
          <p:cNvSpPr>
            <a:spLocks noGrp="1"/>
          </p:cNvSpPr>
          <p:nvPr/>
        </p:nvSpPr>
        <p:spPr>
          <a:xfrm>
            <a:off x="8572500" y="3429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C7D1EC"/>
                </a:solidFill>
              </a:defRPr>
            </a:pPr>
            <a:r>
              <a:rPr sz="1350">
                <a:solidFill>
                  <a:srgbClr val="C7D1EC"/>
                </a:solidFill>
              </a:rPr>
              <a:t>가지의 순서 후보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00EA6D5D-C93B-4751-BFA3-420F3B00C552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10258425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C631510-13F4-4ADD-9C43-F434E70D8832}"/>
              </a:ext>
            </a:extLst>
          </p:cNvPr>
          <p:cNvSpPr>
            <a:spLocks noGrp="1"/>
          </p:cNvSpPr>
          <p:nvPr/>
        </p:nvSpPr>
        <p:spPr>
          <a:xfrm>
            <a:off x="1066800" y="47625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4B35F6"/>
                </a:solidFill>
              </a:defRPr>
            </a:pPr>
            <a:r>
              <a:rPr sz="1725" b="1">
                <a:solidFill>
                  <a:srgbClr val="4B35F6"/>
                </a:solidFill>
              </a:rPr>
              <a:t>핵심 전략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A70B47C-6372-4453-BD20-2226E8E8AE22}"/>
              </a:ext>
            </a:extLst>
          </p:cNvPr>
          <p:cNvSpPr>
            <a:spLocks noGrp="1"/>
          </p:cNvSpPr>
          <p:nvPr/>
        </p:nvSpPr>
        <p:spPr>
          <a:xfrm>
            <a:off x="2724150" y="4762500"/>
            <a:ext cx="784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5203B"/>
                </a:solidFill>
              </a:defRPr>
            </a:pPr>
            <a:r>
              <a:rPr sz="1425">
                <a:solidFill>
                  <a:srgbClr val="15203B"/>
                </a:solidFill>
              </a:rPr>
              <a:t>① 운영·식사·종료 조건을 못 맞추면 즉시 제외   ② 이미 더 좋은 경로보다 점수가 높으면 탐색 중단   ③ 같은 상태를 다시 만나면 더 나쁜 후보는 제외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B5120AA-13C8-4EE5-AE0F-567387124A15}"/>
              </a:ext>
            </a:extLst>
          </p:cNvPr>
          <p:cNvSpPr>
            <a:spLocks noGrp="1"/>
          </p:cNvSpPr>
          <p:nvPr/>
        </p:nvSpPr>
        <p:spPr>
          <a:xfrm>
            <a:off x="647700" y="6086475"/>
            <a:ext cx="800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>
                <a:solidFill>
                  <a:srgbClr val="66718A"/>
                </a:solidFill>
              </a:defRPr>
            </a:pPr>
            <a:r>
              <a:rPr sz="938">
                <a:solidFill>
                  <a:srgbClr val="66718A"/>
                </a:solidFill>
              </a:rPr>
              <a:t>입력 제한: 방문 장소 최대 5개, 선택 식사 최대 2개  |  7! = 5,040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35A2058-6965-46F1-8C88-4F8212755AC7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10896600" cy="9525"/>
          </a:xfrm>
          <a:prstGeom prst="rect">
            <a:avLst/>
          </a:prstGeom>
          <a:solidFill>
            <a:srgbClr val="DFE3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BD032A6-4C73-49C6-8815-043166025FFF}"/>
              </a:ext>
            </a:extLst>
          </p:cNvPr>
          <p:cNvSpPr>
            <a:spLocks noGrp="1"/>
          </p:cNvSpPr>
          <p:nvPr/>
        </p:nvSpPr>
        <p:spPr>
          <a:xfrm>
            <a:off x="647700" y="659130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6718A"/>
                </a:solidFill>
              </a:defRPr>
            </a:pPr>
            <a:r>
              <a:rPr sz="900">
                <a:solidFill>
                  <a:srgbClr val="66718A"/>
                </a:solidFill>
              </a:rPr>
              <a:t>ROUTA  |  Route Recommendation Engine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F090057-C087-4204-9B85-869B3035DAE2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60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6718A"/>
                </a:solidFill>
              </a:defRPr>
            </a:pPr>
            <a:r>
              <a:rPr sz="900">
                <a:solidFill>
                  <a:srgbClr val="66718A"/>
                </a:solidFill>
              </a:rPr>
              <a:t>2 / 6</a:t>
            </a:r>
          </a:p>
        </p:txBody>
      </p:sp>
    </p:spTree>
    <p:extLst>
      <p:ext uri="{BB962C8B-B14F-4D97-AF65-F5344CB8AC3E}">
        <p14:creationId xmlns:p14="http://schemas.microsoft.com/office/powerpoint/2010/main" val="450226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직사각형 82">
            <a:extLst>
              <a:ext uri="{FF2B5EF4-FFF2-40B4-BE49-F238E27FC236}">
                <a16:creationId xmlns:a16="http://schemas.microsoft.com/office/drawing/2014/main" id="{19661D28-5961-428A-B04F-3C2131F3B7BA}"/>
              </a:ext>
            </a:extLst>
          </p:cNvPr>
          <p:cNvSpPr>
            <a:spLocks noGrp="1"/>
          </p:cNvSpPr>
          <p:nvPr/>
        </p:nvSpPr>
        <p:spPr>
          <a:xfrm>
            <a:off x="647700" y="4381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4B35F6"/>
                </a:solidFill>
              </a:defRPr>
            </a:pPr>
            <a:r>
              <a:rPr sz="1125" b="1">
                <a:solidFill>
                  <a:srgbClr val="4B35F6"/>
                </a:solidFill>
              </a:rPr>
              <a:t>03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24504CE-FFDA-4B7B-BB1A-0D35CD9B104F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685800" cy="38100"/>
          </a:xfrm>
          <a:prstGeom prst="rect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0CD9881-B46F-4803-85FE-966CB2F60A13}"/>
              </a:ext>
            </a:extLst>
          </p:cNvPr>
          <p:cNvSpPr>
            <a:spLocks noGrp="1"/>
          </p:cNvSpPr>
          <p:nvPr/>
        </p:nvSpPr>
        <p:spPr>
          <a:xfrm>
            <a:off x="647700" y="96202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 b="1">
                <a:solidFill>
                  <a:srgbClr val="0B1736"/>
                </a:solidFill>
              </a:defRPr>
            </a:pPr>
            <a:r>
              <a:rPr sz="2775" b="1">
                <a:solidFill>
                  <a:srgbClr val="0B1736"/>
                </a:solidFill>
              </a:rPr>
              <a:t>먼저, 시간 제약을 만족하지 못하는 일정은 후보에서 제거합니다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62CE45-4E9B-4CB6-A306-2CBA2A464A41}"/>
              </a:ext>
            </a:extLst>
          </p:cNvPr>
          <p:cNvSpPr>
            <a:spLocks noGrp="1"/>
          </p:cNvSpPr>
          <p:nvPr/>
        </p:nvSpPr>
        <p:spPr>
          <a:xfrm>
            <a:off x="666750" y="1495425"/>
            <a:ext cx="1028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6718A"/>
                </a:solidFill>
              </a:defRPr>
            </a:pPr>
            <a:r>
              <a:rPr sz="1350">
                <a:solidFill>
                  <a:srgbClr val="66718A"/>
                </a:solidFill>
              </a:rPr>
              <a:t>각 장소 도착 시점에서 방문 가능 여부를 확인하고, 실패하면 null을 반환해 해당 분기를 끝냅니다.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27C15F7C-CE80-44E3-9EFB-E3D712C1BDC4}"/>
              </a:ext>
            </a:extLst>
          </p:cNvPr>
          <p:cNvSpPr>
            <a:spLocks noGrp="1"/>
          </p:cNvSpPr>
          <p:nvPr/>
        </p:nvSpPr>
        <p:spPr>
          <a:xfrm>
            <a:off x="647700" y="2076450"/>
            <a:ext cx="6934200" cy="3848100"/>
          </a:xfrm>
          <a:prstGeom prst="roundRect">
            <a:avLst>
              <a:gd name="adj" fmla="val 2970"/>
            </a:avLst>
          </a:prstGeom>
          <a:solidFill>
            <a:srgbClr val="0F1730"/>
          </a:solidFill>
          <a:ln w="9525">
            <a:solidFill>
              <a:srgbClr val="1821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0439770A-FEC1-4A78-9C4A-85AABD3B1D61}"/>
              </a:ext>
            </a:extLst>
          </p:cNvPr>
          <p:cNvSpPr>
            <a:spLocks noGrp="1"/>
          </p:cNvSpPr>
          <p:nvPr/>
        </p:nvSpPr>
        <p:spPr>
          <a:xfrm>
            <a:off x="647700" y="2076450"/>
            <a:ext cx="6934200" cy="400050"/>
          </a:xfrm>
          <a:prstGeom prst="roundRect">
            <a:avLst>
              <a:gd name="adj" fmla="val 28571"/>
            </a:avLst>
          </a:prstGeom>
          <a:solidFill>
            <a:srgbClr val="18214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C272CB4-4F18-4E31-AC6E-D15B3D4FE2FA}"/>
              </a:ext>
            </a:extLst>
          </p:cNvPr>
          <p:cNvSpPr>
            <a:spLocks noGrp="1"/>
          </p:cNvSpPr>
          <p:nvPr/>
        </p:nvSpPr>
        <p:spPr>
          <a:xfrm>
            <a:off x="800100" y="2219325"/>
            <a:ext cx="76200" cy="76200"/>
          </a:xfrm>
          <a:prstGeom prst="ellipse">
            <a:avLst/>
          </a:prstGeom>
          <a:solidFill>
            <a:srgbClr val="F16464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B15D2F9-0828-468A-B7F6-4BD2A7F1CF06}"/>
              </a:ext>
            </a:extLst>
          </p:cNvPr>
          <p:cNvSpPr>
            <a:spLocks noGrp="1"/>
          </p:cNvSpPr>
          <p:nvPr/>
        </p:nvSpPr>
        <p:spPr>
          <a:xfrm>
            <a:off x="942975" y="2219325"/>
            <a:ext cx="76200" cy="76200"/>
          </a:xfrm>
          <a:prstGeom prst="ellipse">
            <a:avLst/>
          </a:prstGeom>
          <a:solidFill>
            <a:srgbClr val="F4C86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213D0F4-FAC9-4C51-ABFF-C62AA139698D}"/>
              </a:ext>
            </a:extLst>
          </p:cNvPr>
          <p:cNvSpPr>
            <a:spLocks noGrp="1"/>
          </p:cNvSpPr>
          <p:nvPr/>
        </p:nvSpPr>
        <p:spPr>
          <a:xfrm>
            <a:off x="1085850" y="2219325"/>
            <a:ext cx="76200" cy="76200"/>
          </a:xfrm>
          <a:prstGeom prst="ellipse">
            <a:avLst/>
          </a:prstGeom>
          <a:solidFill>
            <a:srgbClr val="18C7B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33D58FB-BA99-42C9-94BD-0D0BBBEFB71A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615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23">
                <a:solidFill>
                  <a:srgbClr val="B7C2E0"/>
                </a:solidFill>
              </a:defRPr>
            </a:pPr>
            <a:r>
              <a:rPr sz="923">
                <a:solidFill>
                  <a:srgbClr val="B7C2E0"/>
                </a:solidFill>
              </a:rPr>
              <a:t>recommendation.service.mjs  ·  lines 531–575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514499B-7E1F-44BC-A73F-2989E2391915}"/>
              </a:ext>
            </a:extLst>
          </p:cNvPr>
          <p:cNvSpPr>
            <a:spLocks noGrp="1"/>
          </p:cNvSpPr>
          <p:nvPr/>
        </p:nvSpPr>
        <p:spPr>
          <a:xfrm>
            <a:off x="790575" y="26003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 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3DD2AC-AB30-444A-B7AB-0CAD37A7BD6F}"/>
              </a:ext>
            </a:extLst>
          </p:cNvPr>
          <p:cNvSpPr>
            <a:spLocks noGrp="1"/>
          </p:cNvSpPr>
          <p:nvPr/>
        </p:nvSpPr>
        <p:spPr>
          <a:xfrm>
            <a:off x="1295400" y="2600325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>
                <a:solidFill>
                  <a:srgbClr val="E9EDF8"/>
                </a:solidFill>
              </a:rPr>
              <a:t>const placeTiming = evaluatePlaceVisit({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18B1017-7DAF-45B0-9329-0B0CD7169F9C}"/>
              </a:ext>
            </a:extLst>
          </p:cNvPr>
          <p:cNvSpPr>
            <a:spLocks noGrp="1"/>
          </p:cNvSpPr>
          <p:nvPr/>
        </p:nvSpPr>
        <p:spPr>
          <a:xfrm>
            <a:off x="790575" y="27527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 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A4701D3-04EE-4823-8767-EFB4EBEE59C3}"/>
              </a:ext>
            </a:extLst>
          </p:cNvPr>
          <p:cNvSpPr>
            <a:spLocks noGrp="1"/>
          </p:cNvSpPr>
          <p:nvPr/>
        </p:nvSpPr>
        <p:spPr>
          <a:xfrm>
            <a:off x="1295400" y="2752725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>
                <a:solidFill>
                  <a:srgbClr val="E9EDF8"/>
                </a:solidFill>
              </a:rPr>
              <a:t>  plan,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FB8AA00-BE11-4AE2-82E0-B62C01D78FCE}"/>
              </a:ext>
            </a:extLst>
          </p:cNvPr>
          <p:cNvSpPr>
            <a:spLocks noGrp="1"/>
          </p:cNvSpPr>
          <p:nvPr/>
        </p:nvSpPr>
        <p:spPr>
          <a:xfrm>
            <a:off x="790575" y="29051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 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1705FB3-7A5C-4C6C-B698-A8BC0F583565}"/>
              </a:ext>
            </a:extLst>
          </p:cNvPr>
          <p:cNvSpPr>
            <a:spLocks noGrp="1"/>
          </p:cNvSpPr>
          <p:nvPr/>
        </p:nvSpPr>
        <p:spPr>
          <a:xfrm>
            <a:off x="1295400" y="2905125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>
                <a:solidFill>
                  <a:srgbClr val="E9EDF8"/>
                </a:solidFill>
              </a:rPr>
              <a:t>  place: stop,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A3277C3-2309-45DD-BF3C-66C5CE617A8B}"/>
              </a:ext>
            </a:extLst>
          </p:cNvPr>
          <p:cNvSpPr>
            <a:spLocks noGrp="1"/>
          </p:cNvSpPr>
          <p:nvPr/>
        </p:nvSpPr>
        <p:spPr>
          <a:xfrm>
            <a:off x="790575" y="30575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 4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4CA17CF-7C1E-4B0A-9D11-69AF7C050F67}"/>
              </a:ext>
            </a:extLst>
          </p:cNvPr>
          <p:cNvSpPr>
            <a:spLocks noGrp="1"/>
          </p:cNvSpPr>
          <p:nvPr/>
        </p:nvSpPr>
        <p:spPr>
          <a:xfrm>
            <a:off x="1295400" y="3057525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>
                <a:solidFill>
                  <a:srgbClr val="E9EDF8"/>
                </a:solidFill>
              </a:rPr>
              <a:t>  travelArrivalTime,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D1C2A16-5238-4413-A0A4-C665CDD6A906}"/>
              </a:ext>
            </a:extLst>
          </p:cNvPr>
          <p:cNvSpPr>
            <a:spLocks noGrp="1"/>
          </p:cNvSpPr>
          <p:nvPr/>
        </p:nvSpPr>
        <p:spPr>
          <a:xfrm>
            <a:off x="790575" y="32099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 5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FF1F07-376D-47DE-9AEA-2C4A8856FC4C}"/>
              </a:ext>
            </a:extLst>
          </p:cNvPr>
          <p:cNvSpPr>
            <a:spLocks noGrp="1"/>
          </p:cNvSpPr>
          <p:nvPr/>
        </p:nvSpPr>
        <p:spPr>
          <a:xfrm>
            <a:off x="1295400" y="3209925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>
                <a:solidFill>
                  <a:srgbClr val="E9EDF8"/>
                </a:solidFill>
              </a:rPr>
              <a:t>  stayMinutes: stop.stayMinutes,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991B26-8DB6-4E9F-B937-FBA93B711F46}"/>
              </a:ext>
            </a:extLst>
          </p:cNvPr>
          <p:cNvSpPr>
            <a:spLocks noGrp="1"/>
          </p:cNvSpPr>
          <p:nvPr/>
        </p:nvSpPr>
        <p:spPr>
          <a:xfrm>
            <a:off x="790575" y="33623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 6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894F15-C786-4131-8276-340793B08858}"/>
              </a:ext>
            </a:extLst>
          </p:cNvPr>
          <p:cNvSpPr>
            <a:spLocks noGrp="1"/>
          </p:cNvSpPr>
          <p:nvPr/>
        </p:nvSpPr>
        <p:spPr>
          <a:xfrm>
            <a:off x="1295400" y="3362325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>
                <a:solidFill>
                  <a:srgbClr val="E9EDF8"/>
                </a:solidFill>
              </a:rPr>
              <a:t>  requestedStart: stop.nodeType === "MEAL" ? visitStart : null,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D5403EE-0EAE-47B1-856C-7A223B4ABACA}"/>
              </a:ext>
            </a:extLst>
          </p:cNvPr>
          <p:cNvSpPr>
            <a:spLocks noGrp="1"/>
          </p:cNvSpPr>
          <p:nvPr/>
        </p:nvSpPr>
        <p:spPr>
          <a:xfrm>
            <a:off x="790575" y="35147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 7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D611A6B-B518-4926-B1F6-4ED16553F50B}"/>
              </a:ext>
            </a:extLst>
          </p:cNvPr>
          <p:cNvSpPr>
            <a:spLocks noGrp="1"/>
          </p:cNvSpPr>
          <p:nvPr/>
        </p:nvSpPr>
        <p:spPr>
          <a:xfrm>
            <a:off x="1295400" y="3514725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>
                <a:solidFill>
                  <a:srgbClr val="E9EDF8"/>
                </a:solidFill>
              </a:rPr>
              <a:t>  enforceLastOrder: stop.nodeType === "MEAL",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940E731-4094-4A92-B930-F1CB758CE668}"/>
              </a:ext>
            </a:extLst>
          </p:cNvPr>
          <p:cNvSpPr>
            <a:spLocks noGrp="1"/>
          </p:cNvSpPr>
          <p:nvPr/>
        </p:nvSpPr>
        <p:spPr>
          <a:xfrm>
            <a:off x="790575" y="36671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 8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5E8D217-AF80-446E-992C-9E4F97CC88FD}"/>
              </a:ext>
            </a:extLst>
          </p:cNvPr>
          <p:cNvSpPr>
            <a:spLocks noGrp="1"/>
          </p:cNvSpPr>
          <p:nvPr/>
        </p:nvSpPr>
        <p:spPr>
          <a:xfrm>
            <a:off x="1295400" y="3667125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>
                <a:solidFill>
                  <a:srgbClr val="E9EDF8"/>
                </a:solidFill>
              </a:rPr>
              <a:t>})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96017F7-6F9E-49E4-BA1F-BFCBCC10211E}"/>
              </a:ext>
            </a:extLst>
          </p:cNvPr>
          <p:cNvSpPr>
            <a:spLocks noGrp="1"/>
          </p:cNvSpPr>
          <p:nvPr/>
        </p:nvSpPr>
        <p:spPr>
          <a:xfrm>
            <a:off x="790575" y="38195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 9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87E73D3-EA41-4F29-9F07-0C729B5EBD85}"/>
              </a:ext>
            </a:extLst>
          </p:cNvPr>
          <p:cNvSpPr>
            <a:spLocks noGrp="1"/>
          </p:cNvSpPr>
          <p:nvPr/>
        </p:nvSpPr>
        <p:spPr>
          <a:xfrm>
            <a:off x="1295400" y="3819525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>
                <a:solidFill>
                  <a:srgbClr val="E9EDF8"/>
                </a:solidFill>
              </a:rPr>
              <a:t> 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7AACAD0-6A2C-47C8-9C24-1105329719C1}"/>
              </a:ext>
            </a:extLst>
          </p:cNvPr>
          <p:cNvSpPr>
            <a:spLocks noGrp="1"/>
          </p:cNvSpPr>
          <p:nvPr/>
        </p:nvSpPr>
        <p:spPr>
          <a:xfrm>
            <a:off x="742950" y="4028237"/>
            <a:ext cx="6743700" cy="161925"/>
          </a:xfrm>
          <a:prstGeom prst="rect">
            <a:avLst/>
          </a:prstGeom>
          <a:solidFill>
            <a:srgbClr val="2129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5CDA747-1A7D-4343-B096-8E484208A196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8575" cy="161925"/>
          </a:xfrm>
          <a:prstGeom prst="rect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4A58478-8064-4224-BFD4-452C3CEACBC8}"/>
              </a:ext>
            </a:extLst>
          </p:cNvPr>
          <p:cNvSpPr>
            <a:spLocks noGrp="1"/>
          </p:cNvSpPr>
          <p:nvPr/>
        </p:nvSpPr>
        <p:spPr>
          <a:xfrm>
            <a:off x="790575" y="39719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10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1268ECD-C32C-4709-BD07-7C51FBDBFDDF}"/>
              </a:ext>
            </a:extLst>
          </p:cNvPr>
          <p:cNvSpPr>
            <a:spLocks noGrp="1"/>
          </p:cNvSpPr>
          <p:nvPr/>
        </p:nvSpPr>
        <p:spPr>
          <a:xfrm>
            <a:off x="1288085" y="3928034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 dirty="0">
                <a:solidFill>
                  <a:srgbClr val="E9EDF8"/>
                </a:solidFill>
              </a:rPr>
              <a:t>if (!</a:t>
            </a:r>
            <a:r>
              <a:rPr sz="1058" dirty="0" err="1">
                <a:solidFill>
                  <a:srgbClr val="E9EDF8"/>
                </a:solidFill>
              </a:rPr>
              <a:t>placeTiming.isFeasible</a:t>
            </a:r>
            <a:r>
              <a:rPr sz="1058" dirty="0">
                <a:solidFill>
                  <a:srgbClr val="E9EDF8"/>
                </a:solidFill>
              </a:rPr>
              <a:t>) {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63A76CF-53CC-4E44-9E5D-7BF46B51499C}"/>
              </a:ext>
            </a:extLst>
          </p:cNvPr>
          <p:cNvSpPr>
            <a:spLocks noGrp="1"/>
          </p:cNvSpPr>
          <p:nvPr/>
        </p:nvSpPr>
        <p:spPr>
          <a:xfrm>
            <a:off x="742950" y="4114800"/>
            <a:ext cx="6743700" cy="161925"/>
          </a:xfrm>
          <a:prstGeom prst="rect">
            <a:avLst/>
          </a:prstGeom>
          <a:solidFill>
            <a:srgbClr val="2129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DC1E608-D78C-487C-87D2-5470F54235C7}"/>
              </a:ext>
            </a:extLst>
          </p:cNvPr>
          <p:cNvSpPr>
            <a:spLocks noGrp="1"/>
          </p:cNvSpPr>
          <p:nvPr/>
        </p:nvSpPr>
        <p:spPr>
          <a:xfrm>
            <a:off x="742950" y="4114800"/>
            <a:ext cx="28575" cy="161925"/>
          </a:xfrm>
          <a:prstGeom prst="rect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F6817B8-CA05-4B65-8D47-12FACE692B0C}"/>
              </a:ext>
            </a:extLst>
          </p:cNvPr>
          <p:cNvSpPr>
            <a:spLocks noGrp="1"/>
          </p:cNvSpPr>
          <p:nvPr/>
        </p:nvSpPr>
        <p:spPr>
          <a:xfrm>
            <a:off x="790575" y="41243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11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D5FB989-2E82-44DA-AF44-02A85C048439}"/>
              </a:ext>
            </a:extLst>
          </p:cNvPr>
          <p:cNvSpPr>
            <a:spLocks noGrp="1"/>
          </p:cNvSpPr>
          <p:nvPr/>
        </p:nvSpPr>
        <p:spPr>
          <a:xfrm>
            <a:off x="1295400" y="4124325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>
                <a:solidFill>
                  <a:srgbClr val="E9EDF8"/>
                </a:solidFill>
              </a:rPr>
              <a:t>  placeTiming.conflicts.forEach((conflict) =&gt; onConstraint?.(conflict))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18CEF11-0BA8-4E65-86D0-50533806B493}"/>
              </a:ext>
            </a:extLst>
          </p:cNvPr>
          <p:cNvSpPr>
            <a:spLocks noGrp="1"/>
          </p:cNvSpPr>
          <p:nvPr/>
        </p:nvSpPr>
        <p:spPr>
          <a:xfrm>
            <a:off x="742950" y="4537863"/>
            <a:ext cx="6743700" cy="161925"/>
          </a:xfrm>
          <a:prstGeom prst="rect">
            <a:avLst/>
          </a:prstGeom>
          <a:solidFill>
            <a:srgbClr val="2129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38A99AA-4FD1-4721-A2A1-9B8455785464}"/>
              </a:ext>
            </a:extLst>
          </p:cNvPr>
          <p:cNvSpPr>
            <a:spLocks noGrp="1"/>
          </p:cNvSpPr>
          <p:nvPr/>
        </p:nvSpPr>
        <p:spPr>
          <a:xfrm>
            <a:off x="742950" y="4267200"/>
            <a:ext cx="28575" cy="161925"/>
          </a:xfrm>
          <a:prstGeom prst="rect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D0C6263-9072-4FF7-9649-B630E27674E4}"/>
              </a:ext>
            </a:extLst>
          </p:cNvPr>
          <p:cNvSpPr>
            <a:spLocks noGrp="1"/>
          </p:cNvSpPr>
          <p:nvPr/>
        </p:nvSpPr>
        <p:spPr>
          <a:xfrm>
            <a:off x="790575" y="42767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12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DB63B6A-476D-4978-9C70-29C2AE0855F9}"/>
              </a:ext>
            </a:extLst>
          </p:cNvPr>
          <p:cNvSpPr>
            <a:spLocks noGrp="1"/>
          </p:cNvSpPr>
          <p:nvPr/>
        </p:nvSpPr>
        <p:spPr>
          <a:xfrm>
            <a:off x="1295400" y="4276725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>
                <a:solidFill>
                  <a:srgbClr val="E9EDF8"/>
                </a:solidFill>
              </a:rPr>
              <a:t>  return null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5DE16A7-1788-4E58-90F9-CBF7251DAF61}"/>
              </a:ext>
            </a:extLst>
          </p:cNvPr>
          <p:cNvSpPr>
            <a:spLocks noGrp="1"/>
          </p:cNvSpPr>
          <p:nvPr/>
        </p:nvSpPr>
        <p:spPr>
          <a:xfrm>
            <a:off x="790575" y="44291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13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8818906-E788-4101-83F7-3DFBBEB440A5}"/>
              </a:ext>
            </a:extLst>
          </p:cNvPr>
          <p:cNvSpPr>
            <a:spLocks noGrp="1"/>
          </p:cNvSpPr>
          <p:nvPr/>
        </p:nvSpPr>
        <p:spPr>
          <a:xfrm>
            <a:off x="1295400" y="4429125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>
                <a:solidFill>
                  <a:srgbClr val="E9EDF8"/>
                </a:solidFill>
              </a:rPr>
              <a:t>}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108FB5A-60E4-401E-8EE9-61F7CBF3905F}"/>
              </a:ext>
            </a:extLst>
          </p:cNvPr>
          <p:cNvSpPr>
            <a:spLocks noGrp="1"/>
          </p:cNvSpPr>
          <p:nvPr/>
        </p:nvSpPr>
        <p:spPr>
          <a:xfrm>
            <a:off x="790575" y="45815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14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D438B11-87C0-4C05-B352-027F209E27FC}"/>
              </a:ext>
            </a:extLst>
          </p:cNvPr>
          <p:cNvSpPr>
            <a:spLocks noGrp="1"/>
          </p:cNvSpPr>
          <p:nvPr/>
        </p:nvSpPr>
        <p:spPr>
          <a:xfrm>
            <a:off x="1295400" y="4581525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>
                <a:solidFill>
                  <a:srgbClr val="E9EDF8"/>
                </a:solidFill>
              </a:rPr>
              <a:t> 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9CCAA9D-2242-4A2D-A37C-3E09B4C2CA93}"/>
              </a:ext>
            </a:extLst>
          </p:cNvPr>
          <p:cNvSpPr>
            <a:spLocks noGrp="1"/>
          </p:cNvSpPr>
          <p:nvPr/>
        </p:nvSpPr>
        <p:spPr>
          <a:xfrm>
            <a:off x="742950" y="4724400"/>
            <a:ext cx="6743700" cy="161925"/>
          </a:xfrm>
          <a:prstGeom prst="rect">
            <a:avLst/>
          </a:prstGeom>
          <a:solidFill>
            <a:srgbClr val="2129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0B5B19F-6036-462A-B4C1-4FF55DC32D09}"/>
              </a:ext>
            </a:extLst>
          </p:cNvPr>
          <p:cNvSpPr>
            <a:spLocks noGrp="1"/>
          </p:cNvSpPr>
          <p:nvPr/>
        </p:nvSpPr>
        <p:spPr>
          <a:xfrm>
            <a:off x="742950" y="4724400"/>
            <a:ext cx="28575" cy="161925"/>
          </a:xfrm>
          <a:prstGeom prst="rect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16AB82A-572C-453D-91A2-5B44CBE020CA}"/>
              </a:ext>
            </a:extLst>
          </p:cNvPr>
          <p:cNvSpPr>
            <a:spLocks noGrp="1"/>
          </p:cNvSpPr>
          <p:nvPr/>
        </p:nvSpPr>
        <p:spPr>
          <a:xfrm>
            <a:off x="790575" y="47339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15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CE7A6CC-4567-4A9B-971D-C78192888BA7}"/>
              </a:ext>
            </a:extLst>
          </p:cNvPr>
          <p:cNvSpPr>
            <a:spLocks noGrp="1"/>
          </p:cNvSpPr>
          <p:nvPr/>
        </p:nvSpPr>
        <p:spPr>
          <a:xfrm>
            <a:off x="1295400" y="4733925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>
                <a:solidFill>
                  <a:srgbClr val="E9EDF8"/>
                </a:solidFill>
              </a:rPr>
              <a:t>if (!stop.isFixedReservation &amp;&amp; placeTiming.waitMinutes &gt; maxUnplannedWaitMinutes) {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341F102-45E8-4B79-8CFE-4D369158BD5B}"/>
              </a:ext>
            </a:extLst>
          </p:cNvPr>
          <p:cNvSpPr>
            <a:spLocks noGrp="1"/>
          </p:cNvSpPr>
          <p:nvPr/>
        </p:nvSpPr>
        <p:spPr>
          <a:xfrm>
            <a:off x="742950" y="4876800"/>
            <a:ext cx="6743700" cy="161925"/>
          </a:xfrm>
          <a:prstGeom prst="rect">
            <a:avLst/>
          </a:prstGeom>
          <a:solidFill>
            <a:srgbClr val="2129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96E64B1-18B3-4CA3-9B65-F9C6D3A4F377}"/>
              </a:ext>
            </a:extLst>
          </p:cNvPr>
          <p:cNvSpPr>
            <a:spLocks noGrp="1"/>
          </p:cNvSpPr>
          <p:nvPr/>
        </p:nvSpPr>
        <p:spPr>
          <a:xfrm>
            <a:off x="742950" y="4876800"/>
            <a:ext cx="28575" cy="161925"/>
          </a:xfrm>
          <a:prstGeom prst="rect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708576E-D637-4765-AF5A-A4AF76756B0A}"/>
              </a:ext>
            </a:extLst>
          </p:cNvPr>
          <p:cNvSpPr>
            <a:spLocks noGrp="1"/>
          </p:cNvSpPr>
          <p:nvPr/>
        </p:nvSpPr>
        <p:spPr>
          <a:xfrm>
            <a:off x="790575" y="48863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16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919EF92-474A-416B-AF3D-C29CBFB09C61}"/>
              </a:ext>
            </a:extLst>
          </p:cNvPr>
          <p:cNvSpPr>
            <a:spLocks noGrp="1"/>
          </p:cNvSpPr>
          <p:nvPr/>
        </p:nvSpPr>
        <p:spPr>
          <a:xfrm>
            <a:off x="1295400" y="4886325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>
                <a:solidFill>
                  <a:srgbClr val="E9EDF8"/>
                </a:solidFill>
              </a:rPr>
              <a:t>  return null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D4B6B48-DEF0-461C-8278-4E3E7761D4A7}"/>
              </a:ext>
            </a:extLst>
          </p:cNvPr>
          <p:cNvSpPr>
            <a:spLocks noGrp="1"/>
          </p:cNvSpPr>
          <p:nvPr/>
        </p:nvSpPr>
        <p:spPr>
          <a:xfrm>
            <a:off x="790575" y="50387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17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E05CFBA-3047-4F36-89D7-7B5290CBE274}"/>
              </a:ext>
            </a:extLst>
          </p:cNvPr>
          <p:cNvSpPr>
            <a:spLocks noGrp="1"/>
          </p:cNvSpPr>
          <p:nvPr/>
        </p:nvSpPr>
        <p:spPr>
          <a:xfrm>
            <a:off x="1295400" y="5038725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>
                <a:solidFill>
                  <a:srgbClr val="E9EDF8"/>
                </a:solidFill>
              </a:rPr>
              <a:t>}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3321037-00BF-45BF-BB7D-E83FACF6896B}"/>
              </a:ext>
            </a:extLst>
          </p:cNvPr>
          <p:cNvSpPr>
            <a:spLocks noGrp="1"/>
          </p:cNvSpPr>
          <p:nvPr/>
        </p:nvSpPr>
        <p:spPr>
          <a:xfrm>
            <a:off x="790575" y="51911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18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F7DCFA4-74CC-4D1E-AD1E-B07CEC51D730}"/>
              </a:ext>
            </a:extLst>
          </p:cNvPr>
          <p:cNvSpPr>
            <a:spLocks noGrp="1"/>
          </p:cNvSpPr>
          <p:nvPr/>
        </p:nvSpPr>
        <p:spPr>
          <a:xfrm>
            <a:off x="1295400" y="5191125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>
                <a:solidFill>
                  <a:srgbClr val="E9EDF8"/>
                </a:solidFill>
              </a:rPr>
              <a:t> 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995831F-CB7A-4595-9E53-92A5F76E89FE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6743700" cy="161925"/>
          </a:xfrm>
          <a:prstGeom prst="rect">
            <a:avLst/>
          </a:prstGeom>
          <a:solidFill>
            <a:srgbClr val="2129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B80BB40-DE0C-419E-B471-A2920BC20526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28575" cy="161925"/>
          </a:xfrm>
          <a:prstGeom prst="rect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8CB614E-9BE8-4BAF-8A2D-888EDEFB0C44}"/>
              </a:ext>
            </a:extLst>
          </p:cNvPr>
          <p:cNvSpPr>
            <a:spLocks noGrp="1"/>
          </p:cNvSpPr>
          <p:nvPr/>
        </p:nvSpPr>
        <p:spPr>
          <a:xfrm>
            <a:off x="790575" y="53435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19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7FDCDEB-4CB1-4E02-841C-89E393BC6885}"/>
              </a:ext>
            </a:extLst>
          </p:cNvPr>
          <p:cNvSpPr>
            <a:spLocks noGrp="1"/>
          </p:cNvSpPr>
          <p:nvPr/>
        </p:nvSpPr>
        <p:spPr>
          <a:xfrm>
            <a:off x="1295400" y="5343525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>
                <a:solidFill>
                  <a:srgbClr val="E9EDF8"/>
                </a:solidFill>
              </a:rPr>
              <a:t>if (departureTime &gt; planEndTime) {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3B6E9DE-DCCB-447F-A5D4-A7A252DE28A5}"/>
              </a:ext>
            </a:extLst>
          </p:cNvPr>
          <p:cNvSpPr>
            <a:spLocks noGrp="1"/>
          </p:cNvSpPr>
          <p:nvPr/>
        </p:nvSpPr>
        <p:spPr>
          <a:xfrm>
            <a:off x="742950" y="5486400"/>
            <a:ext cx="6743700" cy="161925"/>
          </a:xfrm>
          <a:prstGeom prst="rect">
            <a:avLst/>
          </a:prstGeom>
          <a:solidFill>
            <a:srgbClr val="2129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1B51CED-7708-4234-A716-74E34D25046D}"/>
              </a:ext>
            </a:extLst>
          </p:cNvPr>
          <p:cNvSpPr>
            <a:spLocks noGrp="1"/>
          </p:cNvSpPr>
          <p:nvPr/>
        </p:nvSpPr>
        <p:spPr>
          <a:xfrm>
            <a:off x="742950" y="5486400"/>
            <a:ext cx="28575" cy="161925"/>
          </a:xfrm>
          <a:prstGeom prst="rect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D33DCA9-1319-4E41-87BA-8E5ACB4D8999}"/>
              </a:ext>
            </a:extLst>
          </p:cNvPr>
          <p:cNvSpPr>
            <a:spLocks noGrp="1"/>
          </p:cNvSpPr>
          <p:nvPr/>
        </p:nvSpPr>
        <p:spPr>
          <a:xfrm>
            <a:off x="790575" y="54959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20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BC092C7-61AD-4EE8-8501-6A1BBC937CCE}"/>
              </a:ext>
            </a:extLst>
          </p:cNvPr>
          <p:cNvSpPr>
            <a:spLocks noGrp="1"/>
          </p:cNvSpPr>
          <p:nvPr/>
        </p:nvSpPr>
        <p:spPr>
          <a:xfrm>
            <a:off x="1295400" y="5495925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>
                <a:solidFill>
                  <a:srgbClr val="E9EDF8"/>
                </a:solidFill>
              </a:rPr>
              <a:t>  return null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B98B68D-C4D0-46E5-AF4D-5FEB2E6069E8}"/>
              </a:ext>
            </a:extLst>
          </p:cNvPr>
          <p:cNvSpPr>
            <a:spLocks noGrp="1"/>
          </p:cNvSpPr>
          <p:nvPr/>
        </p:nvSpPr>
        <p:spPr>
          <a:xfrm>
            <a:off x="790575" y="5648325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53">
                <a:solidFill>
                  <a:srgbClr val="8F9ABA"/>
                </a:solidFill>
              </a:defRPr>
            </a:pPr>
            <a:r>
              <a:rPr sz="953">
                <a:solidFill>
                  <a:srgbClr val="8F9ABA"/>
                </a:solidFill>
              </a:rPr>
              <a:t>21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D86B7819-8EE4-45BD-9629-0E331CA8838C}"/>
              </a:ext>
            </a:extLst>
          </p:cNvPr>
          <p:cNvSpPr>
            <a:spLocks noGrp="1"/>
          </p:cNvSpPr>
          <p:nvPr/>
        </p:nvSpPr>
        <p:spPr>
          <a:xfrm>
            <a:off x="1295400" y="5648325"/>
            <a:ext cx="6153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8">
                <a:solidFill>
                  <a:srgbClr val="E9EDF8"/>
                </a:solidFill>
              </a:defRPr>
            </a:pPr>
            <a:r>
              <a:rPr sz="1058">
                <a:solidFill>
                  <a:srgbClr val="E9EDF8"/>
                </a:solidFill>
              </a:rPr>
              <a:t>}</a:t>
            </a: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03A831C2-D47F-47C6-8E37-911472D3E87D}"/>
              </a:ext>
            </a:extLst>
          </p:cNvPr>
          <p:cNvSpPr>
            <a:spLocks noGrp="1"/>
          </p:cNvSpPr>
          <p:nvPr/>
        </p:nvSpPr>
        <p:spPr>
          <a:xfrm>
            <a:off x="8077200" y="2428875"/>
            <a:ext cx="209550" cy="209550"/>
          </a:xfrm>
          <a:prstGeom prst="ellipse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134E286-DB81-48D4-A7CA-5EB464242C15}"/>
              </a:ext>
            </a:extLst>
          </p:cNvPr>
          <p:cNvSpPr>
            <a:spLocks noGrp="1"/>
          </p:cNvSpPr>
          <p:nvPr/>
        </p:nvSpPr>
        <p:spPr>
          <a:xfrm>
            <a:off x="8105775" y="2428875"/>
            <a:ext cx="1524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1B453E1-92C2-49DA-B928-AC948645DEE1}"/>
              </a:ext>
            </a:extLst>
          </p:cNvPr>
          <p:cNvSpPr>
            <a:spLocks noGrp="1"/>
          </p:cNvSpPr>
          <p:nvPr/>
        </p:nvSpPr>
        <p:spPr>
          <a:xfrm>
            <a:off x="8410575" y="23907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B1736"/>
                </a:solidFill>
              </a:defRPr>
            </a:pPr>
            <a:r>
              <a:rPr sz="1575" b="1">
                <a:solidFill>
                  <a:srgbClr val="0B1736"/>
                </a:solidFill>
              </a:rPr>
              <a:t>운영·식사 조건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F68DAC25-B17D-43F6-9D87-35CDCFBD8EFC}"/>
              </a:ext>
            </a:extLst>
          </p:cNvPr>
          <p:cNvSpPr>
            <a:spLocks noGrp="1"/>
          </p:cNvSpPr>
          <p:nvPr/>
        </p:nvSpPr>
        <p:spPr>
          <a:xfrm>
            <a:off x="8410575" y="2676525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38">
                <a:solidFill>
                  <a:srgbClr val="66718A"/>
                </a:solidFill>
              </a:defRPr>
            </a:pPr>
            <a:r>
              <a:rPr sz="1238">
                <a:solidFill>
                  <a:srgbClr val="66718A"/>
                </a:solidFill>
              </a:rPr>
              <a:t>영업시간, 휴무일, 식사 시작 시각과 마지막 주문 조건을 확인합니다.</a:t>
            </a: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8AEA13C1-3C00-424B-97D5-A9284F650774}"/>
              </a:ext>
            </a:extLst>
          </p:cNvPr>
          <p:cNvSpPr>
            <a:spLocks noGrp="1"/>
          </p:cNvSpPr>
          <p:nvPr/>
        </p:nvSpPr>
        <p:spPr>
          <a:xfrm>
            <a:off x="8077200" y="3552825"/>
            <a:ext cx="209550" cy="209550"/>
          </a:xfrm>
          <a:prstGeom prst="ellipse">
            <a:avLst/>
          </a:prstGeom>
          <a:solidFill>
            <a:srgbClr val="18C7B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8767878-7224-45AE-B7E1-965A9D9803CF}"/>
              </a:ext>
            </a:extLst>
          </p:cNvPr>
          <p:cNvSpPr>
            <a:spLocks noGrp="1"/>
          </p:cNvSpPr>
          <p:nvPr/>
        </p:nvSpPr>
        <p:spPr>
          <a:xfrm>
            <a:off x="8105775" y="3552825"/>
            <a:ext cx="1524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2FECA233-BFF3-400B-BC5E-7CFB54B805AB}"/>
              </a:ext>
            </a:extLst>
          </p:cNvPr>
          <p:cNvSpPr>
            <a:spLocks noGrp="1"/>
          </p:cNvSpPr>
          <p:nvPr/>
        </p:nvSpPr>
        <p:spPr>
          <a:xfrm>
            <a:off x="8410575" y="35147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B1736"/>
                </a:solidFill>
              </a:defRPr>
            </a:pPr>
            <a:r>
              <a:rPr sz="1575" b="1">
                <a:solidFill>
                  <a:srgbClr val="0B1736"/>
                </a:solidFill>
              </a:rPr>
              <a:t>과도한 대기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BE97C41-65EA-47E6-AA83-AF87DAC9DC38}"/>
              </a:ext>
            </a:extLst>
          </p:cNvPr>
          <p:cNvSpPr>
            <a:spLocks noGrp="1"/>
          </p:cNvSpPr>
          <p:nvPr/>
        </p:nvSpPr>
        <p:spPr>
          <a:xfrm>
            <a:off x="8410575" y="3800475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38">
                <a:solidFill>
                  <a:srgbClr val="66718A"/>
                </a:solidFill>
              </a:defRPr>
            </a:pPr>
            <a:r>
              <a:rPr sz="1238">
                <a:solidFill>
                  <a:srgbClr val="66718A"/>
                </a:solidFill>
              </a:rPr>
              <a:t>고정 예약이 아니라면 기본 60분보다 긴 대기 일정은 제외합니다.</a:t>
            </a: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9DF3C75B-AB93-4932-97F8-96715FB37123}"/>
              </a:ext>
            </a:extLst>
          </p:cNvPr>
          <p:cNvSpPr>
            <a:spLocks noGrp="1"/>
          </p:cNvSpPr>
          <p:nvPr/>
        </p:nvSpPr>
        <p:spPr>
          <a:xfrm>
            <a:off x="8077200" y="4676775"/>
            <a:ext cx="209550" cy="209550"/>
          </a:xfrm>
          <a:prstGeom prst="ellipse">
            <a:avLst/>
          </a:prstGeom>
          <a:solidFill>
            <a:srgbClr val="F16464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D5123694-57E1-40CD-BE7E-8ED72A2A6E3A}"/>
              </a:ext>
            </a:extLst>
          </p:cNvPr>
          <p:cNvSpPr>
            <a:spLocks noGrp="1"/>
          </p:cNvSpPr>
          <p:nvPr/>
        </p:nvSpPr>
        <p:spPr>
          <a:xfrm>
            <a:off x="8105775" y="4676775"/>
            <a:ext cx="1524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1535DE8-6E34-4CFA-BC9E-E0706030D37B}"/>
              </a:ext>
            </a:extLst>
          </p:cNvPr>
          <p:cNvSpPr>
            <a:spLocks noGrp="1"/>
          </p:cNvSpPr>
          <p:nvPr/>
        </p:nvSpPr>
        <p:spPr>
          <a:xfrm>
            <a:off x="8410575" y="46386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B1736"/>
                </a:solidFill>
              </a:defRPr>
            </a:pPr>
            <a:r>
              <a:rPr sz="1575" b="1">
                <a:solidFill>
                  <a:srgbClr val="0B1736"/>
                </a:solidFill>
              </a:rPr>
              <a:t>여행 종료 시각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BB150180-AE53-4917-9585-32FBB2033AD1}"/>
              </a:ext>
            </a:extLst>
          </p:cNvPr>
          <p:cNvSpPr>
            <a:spLocks noGrp="1"/>
          </p:cNvSpPr>
          <p:nvPr/>
        </p:nvSpPr>
        <p:spPr>
          <a:xfrm>
            <a:off x="8410575" y="4924425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38">
                <a:solidFill>
                  <a:srgbClr val="66718A"/>
                </a:solidFill>
              </a:defRPr>
            </a:pPr>
            <a:r>
              <a:rPr sz="1238">
                <a:solidFill>
                  <a:srgbClr val="66718A"/>
                </a:solidFill>
              </a:rPr>
              <a:t>마지막 장소를 포함했을 때 종료 시간을 넘으면 해당 후보를 중단합니다.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FAD63C6-1DDA-4F5C-8CF2-739ADF1F4B82}"/>
              </a:ext>
            </a:extLst>
          </p:cNvPr>
          <p:cNvSpPr>
            <a:spLocks noGrp="1"/>
          </p:cNvSpPr>
          <p:nvPr/>
        </p:nvSpPr>
        <p:spPr>
          <a:xfrm>
            <a:off x="647700" y="6086475"/>
            <a:ext cx="800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>
                <a:solidFill>
                  <a:srgbClr val="66718A"/>
                </a:solidFill>
              </a:defRPr>
            </a:pPr>
            <a:r>
              <a:rPr sz="938">
                <a:solidFill>
                  <a:srgbClr val="66718A"/>
                </a:solidFill>
              </a:rPr>
              <a:t>실제 코드: Server/src/modules/recommendations/recommendation.service.mjs:531–575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C5767A3-25E8-48BD-885D-16752A303E20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10896600" cy="9525"/>
          </a:xfrm>
          <a:prstGeom prst="rect">
            <a:avLst/>
          </a:prstGeom>
          <a:solidFill>
            <a:srgbClr val="DFE3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0DBA21B-E664-499C-AA4D-36C537C2DBDA}"/>
              </a:ext>
            </a:extLst>
          </p:cNvPr>
          <p:cNvSpPr>
            <a:spLocks noGrp="1"/>
          </p:cNvSpPr>
          <p:nvPr/>
        </p:nvSpPr>
        <p:spPr>
          <a:xfrm>
            <a:off x="647700" y="659130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6718A"/>
                </a:solidFill>
              </a:defRPr>
            </a:pPr>
            <a:r>
              <a:rPr sz="900">
                <a:solidFill>
                  <a:srgbClr val="66718A"/>
                </a:solidFill>
              </a:rPr>
              <a:t>ROUTA  |  Route Recommendation Engine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25D143AA-CA9D-4D92-8AC7-5FFCE492134E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60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6718A"/>
                </a:solidFill>
              </a:defRPr>
            </a:pPr>
            <a:r>
              <a:rPr sz="900">
                <a:solidFill>
                  <a:srgbClr val="66718A"/>
                </a:solidFill>
              </a:rPr>
              <a:t>3 / 6</a:t>
            </a:r>
          </a:p>
        </p:txBody>
      </p:sp>
    </p:spTree>
    <p:extLst>
      <p:ext uri="{BB962C8B-B14F-4D97-AF65-F5344CB8AC3E}">
        <p14:creationId xmlns:p14="http://schemas.microsoft.com/office/powerpoint/2010/main" val="717508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직사각형 66">
            <a:extLst>
              <a:ext uri="{FF2B5EF4-FFF2-40B4-BE49-F238E27FC236}">
                <a16:creationId xmlns:a16="http://schemas.microsoft.com/office/drawing/2014/main" id="{6CFEE607-6717-4DA8-BADA-1DE14FFF70EC}"/>
              </a:ext>
            </a:extLst>
          </p:cNvPr>
          <p:cNvSpPr>
            <a:spLocks noGrp="1"/>
          </p:cNvSpPr>
          <p:nvPr/>
        </p:nvSpPr>
        <p:spPr>
          <a:xfrm>
            <a:off x="647700" y="4381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4B35F6"/>
                </a:solidFill>
              </a:defRPr>
            </a:pPr>
            <a:r>
              <a:rPr sz="1125" b="1">
                <a:solidFill>
                  <a:srgbClr val="4B35F6"/>
                </a:solidFill>
              </a:rPr>
              <a:t>04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B1984A0-D371-4503-B3E3-6EB6E1D95624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685800" cy="38100"/>
          </a:xfrm>
          <a:prstGeom prst="rect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9163D9-E253-4053-BB9A-FEFD641ABFD3}"/>
              </a:ext>
            </a:extLst>
          </p:cNvPr>
          <p:cNvSpPr>
            <a:spLocks noGrp="1"/>
          </p:cNvSpPr>
          <p:nvPr/>
        </p:nvSpPr>
        <p:spPr>
          <a:xfrm>
            <a:off x="647700" y="96202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 b="1">
                <a:solidFill>
                  <a:srgbClr val="0B1736"/>
                </a:solidFill>
              </a:defRPr>
            </a:pPr>
            <a:r>
              <a:rPr sz="2775" b="1">
                <a:solidFill>
                  <a:srgbClr val="0B1736"/>
                </a:solidFill>
              </a:rPr>
              <a:t>좋은 경로를 찾은 뒤에는, 더 나쁜 후보를 끝까지 보지 않습니다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677B7E-9080-41A3-B820-706D6F9B330B}"/>
              </a:ext>
            </a:extLst>
          </p:cNvPr>
          <p:cNvSpPr>
            <a:spLocks noGrp="1"/>
          </p:cNvSpPr>
          <p:nvPr/>
        </p:nvSpPr>
        <p:spPr>
          <a:xfrm>
            <a:off x="666750" y="1495425"/>
            <a:ext cx="1028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6718A"/>
                </a:solidFill>
              </a:defRPr>
            </a:pPr>
            <a:r>
              <a:rPr sz="1350">
                <a:solidFill>
                  <a:srgbClr val="66718A"/>
                </a:solidFill>
              </a:rPr>
              <a:t>Branch-and-Bound의 Bound는 현재까지 누적된 점수입니다. 이후 이동 비용은 음수가 아니므로 점수는 더 낮아지지 않습니다.</a:t>
            </a:r>
          </a:p>
        </p:txBody>
      </p:sp>
      <p:sp>
        <p:nvSpPr>
          <p:cNvPr id="53" name="모서리가 둥근 직사각형 52">
            <a:extLst>
              <a:ext uri="{FF2B5EF4-FFF2-40B4-BE49-F238E27FC236}">
                <a16:creationId xmlns:a16="http://schemas.microsoft.com/office/drawing/2014/main" id="{487C2256-73D8-4F5F-93D8-931051A4F5A8}"/>
              </a:ext>
            </a:extLst>
          </p:cNvPr>
          <p:cNvSpPr>
            <a:spLocks noGrp="1"/>
          </p:cNvSpPr>
          <p:nvPr/>
        </p:nvSpPr>
        <p:spPr>
          <a:xfrm>
            <a:off x="8420100" y="2266950"/>
            <a:ext cx="2857500" cy="31051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FE3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03141F8-6CD5-41AE-AB75-65A465D9983A}"/>
              </a:ext>
            </a:extLst>
          </p:cNvPr>
          <p:cNvSpPr>
            <a:spLocks noGrp="1"/>
          </p:cNvSpPr>
          <p:nvPr/>
        </p:nvSpPr>
        <p:spPr>
          <a:xfrm>
            <a:off x="8724900" y="2562225"/>
            <a:ext cx="2247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B1736"/>
                </a:solidFill>
              </a:defRPr>
            </a:pPr>
            <a:r>
              <a:rPr sz="1650" b="1">
                <a:solidFill>
                  <a:srgbClr val="0B1736"/>
                </a:solidFill>
              </a:rPr>
              <a:t>코드가 수행하는 일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C5800F2-0F41-4B32-BD5F-1069870186AB}"/>
              </a:ext>
            </a:extLst>
          </p:cNvPr>
          <p:cNvSpPr>
            <a:spLocks noGrp="1"/>
          </p:cNvSpPr>
          <p:nvPr/>
        </p:nvSpPr>
        <p:spPr>
          <a:xfrm>
            <a:off x="8705850" y="31718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4B35F6"/>
                </a:solidFill>
              </a:defRPr>
            </a:pPr>
            <a:r>
              <a:rPr sz="2100" b="1">
                <a:solidFill>
                  <a:srgbClr val="4B35F6"/>
                </a:solidFill>
              </a:rPr>
              <a:t>1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C4039CE-4989-4568-BEA9-5349BA6A7B74}"/>
              </a:ext>
            </a:extLst>
          </p:cNvPr>
          <p:cNvSpPr>
            <a:spLocks noGrp="1"/>
          </p:cNvSpPr>
          <p:nvPr/>
        </p:nvSpPr>
        <p:spPr>
          <a:xfrm>
            <a:off x="9124950" y="32194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5203B"/>
                </a:solidFill>
              </a:defRPr>
            </a:pPr>
            <a:r>
              <a:rPr sz="1350">
                <a:solidFill>
                  <a:srgbClr val="15203B"/>
                </a:solidFill>
              </a:rPr>
              <a:t>현재 경로의 점수를 계산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BB82D05-2554-467A-91CB-9FB66201B4E1}"/>
              </a:ext>
            </a:extLst>
          </p:cNvPr>
          <p:cNvSpPr>
            <a:spLocks noGrp="1"/>
          </p:cNvSpPr>
          <p:nvPr/>
        </p:nvSpPr>
        <p:spPr>
          <a:xfrm>
            <a:off x="8705850" y="37814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4B35F6"/>
                </a:solidFill>
              </a:defRPr>
            </a:pPr>
            <a:r>
              <a:rPr sz="2100" b="1">
                <a:solidFill>
                  <a:srgbClr val="4B35F6"/>
                </a:solidFill>
              </a:rPr>
              <a:t>2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A3DC1DC-FCF7-4DEF-9E7A-EDFFD7461208}"/>
              </a:ext>
            </a:extLst>
          </p:cNvPr>
          <p:cNvSpPr>
            <a:spLocks noGrp="1"/>
          </p:cNvSpPr>
          <p:nvPr/>
        </p:nvSpPr>
        <p:spPr>
          <a:xfrm>
            <a:off x="9124950" y="379095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5203B"/>
                </a:solidFill>
              </a:defRPr>
            </a:pPr>
            <a:r>
              <a:rPr sz="1350">
                <a:solidFill>
                  <a:srgbClr val="15203B"/>
                </a:solidFill>
              </a:rPr>
              <a:t>최적 점수보다 크면 즉시 return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6146FB4-ED3D-4891-81CC-22AFFB7F79AB}"/>
              </a:ext>
            </a:extLst>
          </p:cNvPr>
          <p:cNvSpPr>
            <a:spLocks noGrp="1"/>
          </p:cNvSpPr>
          <p:nvPr/>
        </p:nvSpPr>
        <p:spPr>
          <a:xfrm>
            <a:off x="8705850" y="44767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4B35F6"/>
                </a:solidFill>
              </a:defRPr>
            </a:pPr>
            <a:r>
              <a:rPr sz="2100" b="1">
                <a:solidFill>
                  <a:srgbClr val="4B35F6"/>
                </a:solidFill>
              </a:rPr>
              <a:t>3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70318BE-561C-4807-85B0-987E8855C698}"/>
              </a:ext>
            </a:extLst>
          </p:cNvPr>
          <p:cNvSpPr>
            <a:spLocks noGrp="1"/>
          </p:cNvSpPr>
          <p:nvPr/>
        </p:nvSpPr>
        <p:spPr>
          <a:xfrm>
            <a:off x="9124950" y="4486275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5203B"/>
                </a:solidFill>
              </a:defRPr>
            </a:pPr>
            <a:r>
              <a:rPr sz="1350">
                <a:solidFill>
                  <a:srgbClr val="15203B"/>
                </a:solidFill>
              </a:rPr>
              <a:t>같은 상태는 더 낮은 점수만 유지</a:t>
            </a:r>
          </a:p>
        </p:txBody>
      </p:sp>
      <p:sp>
        <p:nvSpPr>
          <p:cNvPr id="61" name="모서리가 둥근 직사각형 60">
            <a:extLst>
              <a:ext uri="{FF2B5EF4-FFF2-40B4-BE49-F238E27FC236}">
                <a16:creationId xmlns:a16="http://schemas.microsoft.com/office/drawing/2014/main" id="{152B4E2B-9ECE-4834-B908-5F61D28590E9}"/>
              </a:ext>
            </a:extLst>
          </p:cNvPr>
          <p:cNvSpPr>
            <a:spLocks noGrp="1"/>
          </p:cNvSpPr>
          <p:nvPr/>
        </p:nvSpPr>
        <p:spPr>
          <a:xfrm>
            <a:off x="8334375" y="5648325"/>
            <a:ext cx="3048000" cy="323850"/>
          </a:xfrm>
          <a:prstGeom prst="roundRect">
            <a:avLst>
              <a:gd name="adj" fmla="val 50000"/>
            </a:avLst>
          </a:prstGeom>
          <a:solidFill>
            <a:srgbClr val="E5FAF7"/>
          </a:solidFill>
          <a:ln w="0">
            <a:solidFill>
              <a:srgbClr val="E5FA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0BE7BB3D-A742-47B4-BC55-D6E3A72BF076}"/>
              </a:ext>
            </a:extLst>
          </p:cNvPr>
          <p:cNvSpPr>
            <a:spLocks noGrp="1"/>
          </p:cNvSpPr>
          <p:nvPr/>
        </p:nvSpPr>
        <p:spPr>
          <a:xfrm>
            <a:off x="8467725" y="5705475"/>
            <a:ext cx="2781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8C7B1"/>
                </a:solidFill>
              </a:defRPr>
            </a:pPr>
            <a:r>
              <a:rPr sz="1125" b="1">
                <a:solidFill>
                  <a:srgbClr val="18C7B1"/>
                </a:solidFill>
              </a:rPr>
              <a:t>탐색 수와 제외 수를 결과 경고에 기록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3B7C207-FCEF-4B0B-8C0D-177C16651E6A}"/>
              </a:ext>
            </a:extLst>
          </p:cNvPr>
          <p:cNvSpPr>
            <a:spLocks noGrp="1"/>
          </p:cNvSpPr>
          <p:nvPr/>
        </p:nvSpPr>
        <p:spPr>
          <a:xfrm>
            <a:off x="647700" y="6086475"/>
            <a:ext cx="800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>
                <a:solidFill>
                  <a:srgbClr val="66718A"/>
                </a:solidFill>
              </a:defRPr>
            </a:pPr>
            <a:r>
              <a:rPr sz="938">
                <a:solidFill>
                  <a:srgbClr val="66718A"/>
                </a:solidFill>
              </a:rPr>
              <a:t>실제 코드: Server/src/modules/recommendations/recommendation.service.mjs:888–901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F89F8DBE-6724-4B86-8402-D7114AEB0148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10896600" cy="9525"/>
          </a:xfrm>
          <a:prstGeom prst="rect">
            <a:avLst/>
          </a:prstGeom>
          <a:solidFill>
            <a:srgbClr val="DFE3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07990801-2FD2-4742-8DFE-AF6F94DB891C}"/>
              </a:ext>
            </a:extLst>
          </p:cNvPr>
          <p:cNvSpPr>
            <a:spLocks noGrp="1"/>
          </p:cNvSpPr>
          <p:nvPr/>
        </p:nvSpPr>
        <p:spPr>
          <a:xfrm>
            <a:off x="647700" y="659130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6718A"/>
                </a:solidFill>
              </a:defRPr>
            </a:pPr>
            <a:r>
              <a:rPr sz="900">
                <a:solidFill>
                  <a:srgbClr val="66718A"/>
                </a:solidFill>
              </a:rPr>
              <a:t>ROUTA  |  Route Recommendation Engine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60D0008-DE96-4EA4-99E2-CDD23DF1702E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60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6718A"/>
                </a:solidFill>
              </a:defRPr>
            </a:pPr>
            <a:r>
              <a:rPr sz="900">
                <a:solidFill>
                  <a:srgbClr val="66718A"/>
                </a:solidFill>
              </a:rPr>
              <a:t>4 / 6</a:t>
            </a: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E81C158B-43D9-5C94-6780-E3B319D53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33" y="2346249"/>
            <a:ext cx="74803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042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직사각형 65">
            <a:extLst>
              <a:ext uri="{FF2B5EF4-FFF2-40B4-BE49-F238E27FC236}">
                <a16:creationId xmlns:a16="http://schemas.microsoft.com/office/drawing/2014/main" id="{1A36507A-C5BB-4493-B0A4-D648EA12D933}"/>
              </a:ext>
            </a:extLst>
          </p:cNvPr>
          <p:cNvSpPr>
            <a:spLocks noGrp="1"/>
          </p:cNvSpPr>
          <p:nvPr/>
        </p:nvSpPr>
        <p:spPr>
          <a:xfrm>
            <a:off x="647700" y="4381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4B35F6"/>
                </a:solidFill>
              </a:defRPr>
            </a:pPr>
            <a:r>
              <a:rPr sz="1125" b="1">
                <a:solidFill>
                  <a:srgbClr val="4B35F6"/>
                </a:solidFill>
              </a:rPr>
              <a:t>05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EBD3703-EC85-4C16-8DB0-27846EFB2E35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685800" cy="38100"/>
          </a:xfrm>
          <a:prstGeom prst="rect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EEE881-EC72-4308-BAB2-4FCB393E1A4E}"/>
              </a:ext>
            </a:extLst>
          </p:cNvPr>
          <p:cNvSpPr>
            <a:spLocks noGrp="1"/>
          </p:cNvSpPr>
          <p:nvPr/>
        </p:nvSpPr>
        <p:spPr>
          <a:xfrm>
            <a:off x="647700" y="96202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 b="1">
                <a:solidFill>
                  <a:srgbClr val="0B1736"/>
                </a:solidFill>
              </a:defRPr>
            </a:pPr>
            <a:r>
              <a:rPr sz="2775" b="1">
                <a:solidFill>
                  <a:srgbClr val="0B1736"/>
                </a:solidFill>
              </a:rPr>
              <a:t>방문 순서를 찾은 뒤, 각 구간은 실제 길찾기 결과로 채웁니다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3CBAC7-A7B0-4EDF-8950-8BF18CEEB498}"/>
              </a:ext>
            </a:extLst>
          </p:cNvPr>
          <p:cNvSpPr>
            <a:spLocks noGrp="1"/>
          </p:cNvSpPr>
          <p:nvPr/>
        </p:nvSpPr>
        <p:spPr>
          <a:xfrm>
            <a:off x="666750" y="1495425"/>
            <a:ext cx="1028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6718A"/>
                </a:solidFill>
              </a:defRPr>
            </a:pPr>
            <a:r>
              <a:rPr sz="1350">
                <a:solidFill>
                  <a:srgbClr val="66718A"/>
                </a:solidFill>
              </a:rPr>
              <a:t>거리만으로 시간을 추정하지 않고, 구간별로 카카오 도보 경로와 ODsay 대중교통 후보를 사용합니다.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A1D9F47C-866C-4785-9EAE-4B0E7E9FCBE6}"/>
              </a:ext>
            </a:extLst>
          </p:cNvPr>
          <p:cNvSpPr>
            <a:spLocks noGrp="1"/>
          </p:cNvSpPr>
          <p:nvPr/>
        </p:nvSpPr>
        <p:spPr>
          <a:xfrm>
            <a:off x="647700" y="2076450"/>
            <a:ext cx="7334250" cy="3048000"/>
          </a:xfrm>
          <a:prstGeom prst="roundRect">
            <a:avLst>
              <a:gd name="adj" fmla="val 3750"/>
            </a:avLst>
          </a:prstGeom>
          <a:solidFill>
            <a:srgbClr val="0F1730"/>
          </a:solidFill>
          <a:ln w="9525">
            <a:solidFill>
              <a:srgbClr val="1821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E13D596C-5943-4183-AEA4-CC7E45DD0168}"/>
              </a:ext>
            </a:extLst>
          </p:cNvPr>
          <p:cNvSpPr>
            <a:spLocks noGrp="1"/>
          </p:cNvSpPr>
          <p:nvPr/>
        </p:nvSpPr>
        <p:spPr>
          <a:xfrm>
            <a:off x="647700" y="2076450"/>
            <a:ext cx="7334250" cy="400050"/>
          </a:xfrm>
          <a:prstGeom prst="roundRect">
            <a:avLst>
              <a:gd name="adj" fmla="val 28571"/>
            </a:avLst>
          </a:prstGeom>
          <a:solidFill>
            <a:srgbClr val="18214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77559FA-3896-4528-92B2-DD15CB29A2B1}"/>
              </a:ext>
            </a:extLst>
          </p:cNvPr>
          <p:cNvSpPr>
            <a:spLocks noGrp="1"/>
          </p:cNvSpPr>
          <p:nvPr/>
        </p:nvSpPr>
        <p:spPr>
          <a:xfrm>
            <a:off x="800100" y="2219325"/>
            <a:ext cx="76200" cy="76200"/>
          </a:xfrm>
          <a:prstGeom prst="ellipse">
            <a:avLst/>
          </a:prstGeom>
          <a:solidFill>
            <a:srgbClr val="F16464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6A88309-6820-46BA-85C6-2DD2EBCA34BA}"/>
              </a:ext>
            </a:extLst>
          </p:cNvPr>
          <p:cNvSpPr>
            <a:spLocks noGrp="1"/>
          </p:cNvSpPr>
          <p:nvPr/>
        </p:nvSpPr>
        <p:spPr>
          <a:xfrm>
            <a:off x="942975" y="2219325"/>
            <a:ext cx="76200" cy="76200"/>
          </a:xfrm>
          <a:prstGeom prst="ellipse">
            <a:avLst/>
          </a:prstGeom>
          <a:solidFill>
            <a:srgbClr val="F4C86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422F663-D53E-4910-BEE9-B9E2AB5F1380}"/>
              </a:ext>
            </a:extLst>
          </p:cNvPr>
          <p:cNvSpPr>
            <a:spLocks noGrp="1"/>
          </p:cNvSpPr>
          <p:nvPr/>
        </p:nvSpPr>
        <p:spPr>
          <a:xfrm>
            <a:off x="1085850" y="2219325"/>
            <a:ext cx="76200" cy="76200"/>
          </a:xfrm>
          <a:prstGeom prst="ellipse">
            <a:avLst/>
          </a:prstGeom>
          <a:solidFill>
            <a:srgbClr val="18C7B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D880444-3A1C-410D-B5C0-4D8535AE5858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655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23">
                <a:solidFill>
                  <a:srgbClr val="B7C2E0"/>
                </a:solidFill>
              </a:defRPr>
            </a:pPr>
            <a:r>
              <a:rPr sz="923">
                <a:solidFill>
                  <a:srgbClr val="B7C2E0"/>
                </a:solidFill>
              </a:rPr>
              <a:t>odsay.mjs  ·  lines 251–275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9C453A3-B7BD-4EE4-B411-80B881349BD0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7143750" cy="180975"/>
          </a:xfrm>
          <a:prstGeom prst="rect">
            <a:avLst/>
          </a:prstGeom>
          <a:solidFill>
            <a:srgbClr val="2129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3C7CA0B-0533-4746-888C-B9A541F3981A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8575" cy="180975"/>
          </a:xfrm>
          <a:prstGeom prst="rect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07AEC9-1716-49A5-B563-26540AB0E3F6}"/>
              </a:ext>
            </a:extLst>
          </p:cNvPr>
          <p:cNvSpPr>
            <a:spLocks noGrp="1"/>
          </p:cNvSpPr>
          <p:nvPr/>
        </p:nvSpPr>
        <p:spPr>
          <a:xfrm>
            <a:off x="790575" y="26003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68">
                <a:solidFill>
                  <a:srgbClr val="8F9ABA"/>
                </a:solidFill>
              </a:defRPr>
            </a:pPr>
            <a:r>
              <a:rPr sz="968">
                <a:solidFill>
                  <a:srgbClr val="8F9ABA"/>
                </a:solidFill>
              </a:rPr>
              <a:t> 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EA3D91-4D91-4965-85FF-1C44207925CA}"/>
              </a:ext>
            </a:extLst>
          </p:cNvPr>
          <p:cNvSpPr>
            <a:spLocks noGrp="1"/>
          </p:cNvSpPr>
          <p:nvPr/>
        </p:nvSpPr>
        <p:spPr>
          <a:xfrm>
            <a:off x="1295400" y="2600325"/>
            <a:ext cx="655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73">
                <a:solidFill>
                  <a:srgbClr val="E9EDF8"/>
                </a:solidFill>
              </a:defRPr>
            </a:pPr>
            <a:r>
              <a:rPr sz="1073">
                <a:solidFill>
                  <a:srgbClr val="E9EDF8"/>
                </a:solidFill>
              </a:rPr>
              <a:t>if (calculateDistanceMeters(from, to) &lt; 700) {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3A298C4-B701-4CC7-9058-2199159D2613}"/>
              </a:ext>
            </a:extLst>
          </p:cNvPr>
          <p:cNvSpPr>
            <a:spLocks noGrp="1"/>
          </p:cNvSpPr>
          <p:nvPr/>
        </p:nvSpPr>
        <p:spPr>
          <a:xfrm>
            <a:off x="742950" y="2762250"/>
            <a:ext cx="7143750" cy="180975"/>
          </a:xfrm>
          <a:prstGeom prst="rect">
            <a:avLst/>
          </a:prstGeom>
          <a:solidFill>
            <a:srgbClr val="2129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7D3B41B-105E-4940-B982-6F701BCA12B9}"/>
              </a:ext>
            </a:extLst>
          </p:cNvPr>
          <p:cNvSpPr>
            <a:spLocks noGrp="1"/>
          </p:cNvSpPr>
          <p:nvPr/>
        </p:nvSpPr>
        <p:spPr>
          <a:xfrm>
            <a:off x="742950" y="2762250"/>
            <a:ext cx="28575" cy="180975"/>
          </a:xfrm>
          <a:prstGeom prst="rect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9912351-23D7-46D9-A5D0-D0BC2CE1EDAE}"/>
              </a:ext>
            </a:extLst>
          </p:cNvPr>
          <p:cNvSpPr>
            <a:spLocks noGrp="1"/>
          </p:cNvSpPr>
          <p:nvPr/>
        </p:nvSpPr>
        <p:spPr>
          <a:xfrm>
            <a:off x="790575" y="27717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68">
                <a:solidFill>
                  <a:srgbClr val="8F9ABA"/>
                </a:solidFill>
              </a:defRPr>
            </a:pPr>
            <a:r>
              <a:rPr sz="968">
                <a:solidFill>
                  <a:srgbClr val="8F9ABA"/>
                </a:solidFill>
              </a:rPr>
              <a:t> 2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BCCE05B-3008-4980-8B97-8F402C97B457}"/>
              </a:ext>
            </a:extLst>
          </p:cNvPr>
          <p:cNvSpPr>
            <a:spLocks noGrp="1"/>
          </p:cNvSpPr>
          <p:nvPr/>
        </p:nvSpPr>
        <p:spPr>
          <a:xfrm>
            <a:off x="1295400" y="2771775"/>
            <a:ext cx="655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73">
                <a:solidFill>
                  <a:srgbClr val="E9EDF8"/>
                </a:solidFill>
              </a:defRPr>
            </a:pPr>
            <a:r>
              <a:rPr sz="1073">
                <a:solidFill>
                  <a:srgbClr val="E9EDF8"/>
                </a:solidFill>
              </a:rPr>
              <a:t>  return [await createWalkingRouteOrFallback(from, to)]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91A8579-5C65-4833-88EE-1DE4E0AA218D}"/>
              </a:ext>
            </a:extLst>
          </p:cNvPr>
          <p:cNvSpPr>
            <a:spLocks noGrp="1"/>
          </p:cNvSpPr>
          <p:nvPr/>
        </p:nvSpPr>
        <p:spPr>
          <a:xfrm>
            <a:off x="790575" y="29432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68">
                <a:solidFill>
                  <a:srgbClr val="8F9ABA"/>
                </a:solidFill>
              </a:defRPr>
            </a:pPr>
            <a:r>
              <a:rPr sz="968">
                <a:solidFill>
                  <a:srgbClr val="8F9ABA"/>
                </a:solidFill>
              </a:rPr>
              <a:t> 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BF408C0-0C33-4438-81B9-84E2C3F544EC}"/>
              </a:ext>
            </a:extLst>
          </p:cNvPr>
          <p:cNvSpPr>
            <a:spLocks noGrp="1"/>
          </p:cNvSpPr>
          <p:nvPr/>
        </p:nvSpPr>
        <p:spPr>
          <a:xfrm>
            <a:off x="1295400" y="2943225"/>
            <a:ext cx="655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73">
                <a:solidFill>
                  <a:srgbClr val="E9EDF8"/>
                </a:solidFill>
              </a:defRPr>
            </a:pPr>
            <a:r>
              <a:rPr sz="1073">
                <a:solidFill>
                  <a:srgbClr val="E9EDF8"/>
                </a:solidFill>
              </a:rPr>
              <a:t>}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5FCA9B0-7968-477A-B2BA-6A5CCDD028DE}"/>
              </a:ext>
            </a:extLst>
          </p:cNvPr>
          <p:cNvSpPr>
            <a:spLocks noGrp="1"/>
          </p:cNvSpPr>
          <p:nvPr/>
        </p:nvSpPr>
        <p:spPr>
          <a:xfrm>
            <a:off x="790575" y="31146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68">
                <a:solidFill>
                  <a:srgbClr val="8F9ABA"/>
                </a:solidFill>
              </a:defRPr>
            </a:pPr>
            <a:r>
              <a:rPr sz="968">
                <a:solidFill>
                  <a:srgbClr val="8F9ABA"/>
                </a:solidFill>
              </a:rPr>
              <a:t> 4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EA1975A-0AB1-4261-81D5-85F7A588077E}"/>
              </a:ext>
            </a:extLst>
          </p:cNvPr>
          <p:cNvSpPr>
            <a:spLocks noGrp="1"/>
          </p:cNvSpPr>
          <p:nvPr/>
        </p:nvSpPr>
        <p:spPr>
          <a:xfrm>
            <a:off x="1295400" y="3114675"/>
            <a:ext cx="655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73">
                <a:solidFill>
                  <a:srgbClr val="E9EDF8"/>
                </a:solidFill>
              </a:defRPr>
            </a:pPr>
            <a:r>
              <a:rPr sz="1073">
                <a:solidFill>
                  <a:srgbClr val="E9EDF8"/>
                </a:solidFill>
              </a:rPr>
              <a:t>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8308656-937C-4061-93AF-5D80CD492F4A}"/>
              </a:ext>
            </a:extLst>
          </p:cNvPr>
          <p:cNvSpPr>
            <a:spLocks noGrp="1"/>
          </p:cNvSpPr>
          <p:nvPr/>
        </p:nvSpPr>
        <p:spPr>
          <a:xfrm>
            <a:off x="742950" y="3276600"/>
            <a:ext cx="7143750" cy="180975"/>
          </a:xfrm>
          <a:prstGeom prst="rect">
            <a:avLst/>
          </a:prstGeom>
          <a:solidFill>
            <a:srgbClr val="2129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3D50C08-F078-4C0F-A716-997322D5A047}"/>
              </a:ext>
            </a:extLst>
          </p:cNvPr>
          <p:cNvSpPr>
            <a:spLocks noGrp="1"/>
          </p:cNvSpPr>
          <p:nvPr/>
        </p:nvSpPr>
        <p:spPr>
          <a:xfrm>
            <a:off x="742950" y="3276600"/>
            <a:ext cx="28575" cy="180975"/>
          </a:xfrm>
          <a:prstGeom prst="rect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6C4D549-35D0-4B83-B35C-F0DBBD7454EB}"/>
              </a:ext>
            </a:extLst>
          </p:cNvPr>
          <p:cNvSpPr>
            <a:spLocks noGrp="1"/>
          </p:cNvSpPr>
          <p:nvPr/>
        </p:nvSpPr>
        <p:spPr>
          <a:xfrm>
            <a:off x="790575" y="32861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68">
                <a:solidFill>
                  <a:srgbClr val="8F9ABA"/>
                </a:solidFill>
              </a:defRPr>
            </a:pPr>
            <a:r>
              <a:rPr sz="968">
                <a:solidFill>
                  <a:srgbClr val="8F9ABA"/>
                </a:solidFill>
              </a:rPr>
              <a:t> 5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96E96DC-DC08-429E-9C3A-DA3AEA3D4A58}"/>
              </a:ext>
            </a:extLst>
          </p:cNvPr>
          <p:cNvSpPr>
            <a:spLocks noGrp="1"/>
          </p:cNvSpPr>
          <p:nvPr/>
        </p:nvSpPr>
        <p:spPr>
          <a:xfrm>
            <a:off x="1295400" y="3286125"/>
            <a:ext cx="655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73">
                <a:solidFill>
                  <a:srgbClr val="E9EDF8"/>
                </a:solidFill>
              </a:defRPr>
            </a:pPr>
            <a:r>
              <a:rPr sz="1073">
                <a:solidFill>
                  <a:srgbClr val="E9EDF8"/>
                </a:solidFill>
              </a:rPr>
              <a:t>return getOrCreateRouteCache({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E89296A-9953-4B96-9B81-79FF52CDFBD7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7143750" cy="180975"/>
          </a:xfrm>
          <a:prstGeom prst="rect">
            <a:avLst/>
          </a:prstGeom>
          <a:solidFill>
            <a:srgbClr val="2129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BA79AD2-56FC-4798-B3D6-43FB577086C3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28575" cy="180975"/>
          </a:xfrm>
          <a:prstGeom prst="rect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69E7553-A6F0-4B41-961D-19250970E8D5}"/>
              </a:ext>
            </a:extLst>
          </p:cNvPr>
          <p:cNvSpPr>
            <a:spLocks noGrp="1"/>
          </p:cNvSpPr>
          <p:nvPr/>
        </p:nvSpPr>
        <p:spPr>
          <a:xfrm>
            <a:off x="790575" y="34575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68">
                <a:solidFill>
                  <a:srgbClr val="8F9ABA"/>
                </a:solidFill>
              </a:defRPr>
            </a:pPr>
            <a:r>
              <a:rPr sz="968">
                <a:solidFill>
                  <a:srgbClr val="8F9ABA"/>
                </a:solidFill>
              </a:rPr>
              <a:t> 6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7BD5CA5-01AC-40F9-BBEC-FC40B3B3F212}"/>
              </a:ext>
            </a:extLst>
          </p:cNvPr>
          <p:cNvSpPr>
            <a:spLocks noGrp="1"/>
          </p:cNvSpPr>
          <p:nvPr/>
        </p:nvSpPr>
        <p:spPr>
          <a:xfrm>
            <a:off x="1295400" y="3457575"/>
            <a:ext cx="655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73">
                <a:solidFill>
                  <a:srgbClr val="E9EDF8"/>
                </a:solidFill>
              </a:defRPr>
            </a:pPr>
            <a:r>
              <a:rPr sz="1073">
                <a:solidFill>
                  <a:srgbClr val="E9EDF8"/>
                </a:solidFill>
              </a:rPr>
              <a:t>  key: createRouteCacheKey({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B3DB67E-7BCC-47C1-9ACB-C135EB28C548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7143750" cy="180975"/>
          </a:xfrm>
          <a:prstGeom prst="rect">
            <a:avLst/>
          </a:prstGeom>
          <a:solidFill>
            <a:srgbClr val="2129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C89CBFB-3140-457C-AD3F-29B5B6A4D36B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28575" cy="180975"/>
          </a:xfrm>
          <a:prstGeom prst="rect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F4D5AA5-C6DC-48BA-96EA-024F8DC87747}"/>
              </a:ext>
            </a:extLst>
          </p:cNvPr>
          <p:cNvSpPr>
            <a:spLocks noGrp="1"/>
          </p:cNvSpPr>
          <p:nvPr/>
        </p:nvSpPr>
        <p:spPr>
          <a:xfrm>
            <a:off x="790575" y="36290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68">
                <a:solidFill>
                  <a:srgbClr val="8F9ABA"/>
                </a:solidFill>
              </a:defRPr>
            </a:pPr>
            <a:r>
              <a:rPr sz="968">
                <a:solidFill>
                  <a:srgbClr val="8F9ABA"/>
                </a:solidFill>
              </a:rPr>
              <a:t> 7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C8BF606-3875-4BDF-8D66-F8146E321C96}"/>
              </a:ext>
            </a:extLst>
          </p:cNvPr>
          <p:cNvSpPr>
            <a:spLocks noGrp="1"/>
          </p:cNvSpPr>
          <p:nvPr/>
        </p:nvSpPr>
        <p:spPr>
          <a:xfrm>
            <a:off x="1295400" y="3629025"/>
            <a:ext cx="655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73">
                <a:solidFill>
                  <a:srgbClr val="E9EDF8"/>
                </a:solidFill>
              </a:defRPr>
            </a:pPr>
            <a:r>
              <a:rPr sz="1073">
                <a:solidFill>
                  <a:srgbClr val="E9EDF8"/>
                </a:solidFill>
              </a:rPr>
              <a:t>    provider: "ODSAY",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D7373A8-A9F6-4554-A516-298D935739D7}"/>
              </a:ext>
            </a:extLst>
          </p:cNvPr>
          <p:cNvSpPr>
            <a:spLocks noGrp="1"/>
          </p:cNvSpPr>
          <p:nvPr/>
        </p:nvSpPr>
        <p:spPr>
          <a:xfrm>
            <a:off x="790575" y="38004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68">
                <a:solidFill>
                  <a:srgbClr val="8F9ABA"/>
                </a:solidFill>
              </a:defRPr>
            </a:pPr>
            <a:r>
              <a:rPr sz="968">
                <a:solidFill>
                  <a:srgbClr val="8F9ABA"/>
                </a:solidFill>
              </a:rPr>
              <a:t> 8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4F9EC8E-F0DE-490A-9D12-BE9DE8715625}"/>
              </a:ext>
            </a:extLst>
          </p:cNvPr>
          <p:cNvSpPr>
            <a:spLocks noGrp="1"/>
          </p:cNvSpPr>
          <p:nvPr/>
        </p:nvSpPr>
        <p:spPr>
          <a:xfrm>
            <a:off x="1295400" y="3800475"/>
            <a:ext cx="655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73">
                <a:solidFill>
                  <a:srgbClr val="E9EDF8"/>
                </a:solidFill>
              </a:defRPr>
            </a:pPr>
            <a:r>
              <a:rPr sz="1073">
                <a:solidFill>
                  <a:srgbClr val="E9EDF8"/>
                </a:solidFill>
              </a:rPr>
              <a:t>    mode: "TRANSIT",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9129E0E-3B2B-4F03-A702-9D2927983EA0}"/>
              </a:ext>
            </a:extLst>
          </p:cNvPr>
          <p:cNvSpPr>
            <a:spLocks noGrp="1"/>
          </p:cNvSpPr>
          <p:nvPr/>
        </p:nvSpPr>
        <p:spPr>
          <a:xfrm>
            <a:off x="790575" y="39719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68">
                <a:solidFill>
                  <a:srgbClr val="8F9ABA"/>
                </a:solidFill>
              </a:defRPr>
            </a:pPr>
            <a:r>
              <a:rPr sz="968">
                <a:solidFill>
                  <a:srgbClr val="8F9ABA"/>
                </a:solidFill>
              </a:rPr>
              <a:t> 9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3D699F9-4A79-4FCF-9662-59D99578A1F3}"/>
              </a:ext>
            </a:extLst>
          </p:cNvPr>
          <p:cNvSpPr>
            <a:spLocks noGrp="1"/>
          </p:cNvSpPr>
          <p:nvPr/>
        </p:nvSpPr>
        <p:spPr>
          <a:xfrm>
            <a:off x="1295400" y="3971925"/>
            <a:ext cx="655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73">
                <a:solidFill>
                  <a:srgbClr val="E9EDF8"/>
                </a:solidFill>
              </a:defRPr>
            </a:pPr>
            <a:r>
              <a:rPr sz="1073">
                <a:solidFill>
                  <a:srgbClr val="E9EDF8"/>
                </a:solidFill>
              </a:rPr>
              <a:t>    from,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062541C-1652-4095-A385-ABC3E0784EC2}"/>
              </a:ext>
            </a:extLst>
          </p:cNvPr>
          <p:cNvSpPr>
            <a:spLocks noGrp="1"/>
          </p:cNvSpPr>
          <p:nvPr/>
        </p:nvSpPr>
        <p:spPr>
          <a:xfrm>
            <a:off x="790575" y="41433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68">
                <a:solidFill>
                  <a:srgbClr val="8F9ABA"/>
                </a:solidFill>
              </a:defRPr>
            </a:pPr>
            <a:r>
              <a:rPr sz="968">
                <a:solidFill>
                  <a:srgbClr val="8F9ABA"/>
                </a:solidFill>
              </a:rPr>
              <a:t>10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98F3D33-FA21-411C-85EA-CC523E83EBB4}"/>
              </a:ext>
            </a:extLst>
          </p:cNvPr>
          <p:cNvSpPr>
            <a:spLocks noGrp="1"/>
          </p:cNvSpPr>
          <p:nvPr/>
        </p:nvSpPr>
        <p:spPr>
          <a:xfrm>
            <a:off x="1295400" y="4143375"/>
            <a:ext cx="655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73">
                <a:solidFill>
                  <a:srgbClr val="E9EDF8"/>
                </a:solidFill>
              </a:defRPr>
            </a:pPr>
            <a:r>
              <a:rPr sz="1073">
                <a:solidFill>
                  <a:srgbClr val="E9EDF8"/>
                </a:solidFill>
              </a:rPr>
              <a:t>    to,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FDB55A9-F683-4012-92F8-8D38E01B56E9}"/>
              </a:ext>
            </a:extLst>
          </p:cNvPr>
          <p:cNvSpPr>
            <a:spLocks noGrp="1"/>
          </p:cNvSpPr>
          <p:nvPr/>
        </p:nvSpPr>
        <p:spPr>
          <a:xfrm>
            <a:off x="790575" y="43148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68">
                <a:solidFill>
                  <a:srgbClr val="8F9ABA"/>
                </a:solidFill>
              </a:defRPr>
            </a:pPr>
            <a:r>
              <a:rPr sz="968">
                <a:solidFill>
                  <a:srgbClr val="8F9ABA"/>
                </a:solidFill>
              </a:rPr>
              <a:t>11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60655EF-8D8F-48F4-B4D4-A6E688B43AC9}"/>
              </a:ext>
            </a:extLst>
          </p:cNvPr>
          <p:cNvSpPr>
            <a:spLocks noGrp="1"/>
          </p:cNvSpPr>
          <p:nvPr/>
        </p:nvSpPr>
        <p:spPr>
          <a:xfrm>
            <a:off x="1295400" y="4314825"/>
            <a:ext cx="655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73">
                <a:solidFill>
                  <a:srgbClr val="E9EDF8"/>
                </a:solidFill>
              </a:defRPr>
            </a:pPr>
            <a:r>
              <a:rPr sz="1073">
                <a:solidFill>
                  <a:srgbClr val="E9EDF8"/>
                </a:solidFill>
              </a:rPr>
              <a:t>    option: "OPT_0",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26A692B-35D7-49CF-881E-D36D73FC91F6}"/>
              </a:ext>
            </a:extLst>
          </p:cNvPr>
          <p:cNvSpPr>
            <a:spLocks noGrp="1"/>
          </p:cNvSpPr>
          <p:nvPr/>
        </p:nvSpPr>
        <p:spPr>
          <a:xfrm>
            <a:off x="790575" y="44862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68">
                <a:solidFill>
                  <a:srgbClr val="8F9ABA"/>
                </a:solidFill>
              </a:defRPr>
            </a:pPr>
            <a:r>
              <a:rPr sz="968">
                <a:solidFill>
                  <a:srgbClr val="8F9ABA"/>
                </a:solidFill>
              </a:rPr>
              <a:t>12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7DAA135-3EEC-4359-BA92-B56D31C9DB74}"/>
              </a:ext>
            </a:extLst>
          </p:cNvPr>
          <p:cNvSpPr>
            <a:spLocks noGrp="1"/>
          </p:cNvSpPr>
          <p:nvPr/>
        </p:nvSpPr>
        <p:spPr>
          <a:xfrm>
            <a:off x="1295400" y="4486275"/>
            <a:ext cx="655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73">
                <a:solidFill>
                  <a:srgbClr val="E9EDF8"/>
                </a:solidFill>
              </a:defRPr>
            </a:pPr>
            <a:r>
              <a:rPr sz="1073">
                <a:solidFill>
                  <a:srgbClr val="E9EDF8"/>
                </a:solidFill>
              </a:rPr>
              <a:t>  }),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77575EE-0F58-45D6-A583-4B74BFC8C8BD}"/>
              </a:ext>
            </a:extLst>
          </p:cNvPr>
          <p:cNvSpPr>
            <a:spLocks noGrp="1"/>
          </p:cNvSpPr>
          <p:nvPr/>
        </p:nvSpPr>
        <p:spPr>
          <a:xfrm>
            <a:off x="742950" y="4648200"/>
            <a:ext cx="7143750" cy="180975"/>
          </a:xfrm>
          <a:prstGeom prst="rect">
            <a:avLst/>
          </a:prstGeom>
          <a:solidFill>
            <a:srgbClr val="2129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40310CE-57D9-4888-8E9A-8EA43932057A}"/>
              </a:ext>
            </a:extLst>
          </p:cNvPr>
          <p:cNvSpPr>
            <a:spLocks noGrp="1"/>
          </p:cNvSpPr>
          <p:nvPr/>
        </p:nvSpPr>
        <p:spPr>
          <a:xfrm>
            <a:off x="742950" y="4648200"/>
            <a:ext cx="28575" cy="180975"/>
          </a:xfrm>
          <a:prstGeom prst="rect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341BC99-DB3E-407D-8B51-BF9BAB073A97}"/>
              </a:ext>
            </a:extLst>
          </p:cNvPr>
          <p:cNvSpPr>
            <a:spLocks noGrp="1"/>
          </p:cNvSpPr>
          <p:nvPr/>
        </p:nvSpPr>
        <p:spPr>
          <a:xfrm>
            <a:off x="790575" y="46577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68">
                <a:solidFill>
                  <a:srgbClr val="8F9ABA"/>
                </a:solidFill>
              </a:defRPr>
            </a:pPr>
            <a:r>
              <a:rPr sz="968">
                <a:solidFill>
                  <a:srgbClr val="8F9ABA"/>
                </a:solidFill>
              </a:rPr>
              <a:t>13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833A97F-8FC4-4988-B99B-291A61A8EE05}"/>
              </a:ext>
            </a:extLst>
          </p:cNvPr>
          <p:cNvSpPr>
            <a:spLocks noGrp="1"/>
          </p:cNvSpPr>
          <p:nvPr/>
        </p:nvSpPr>
        <p:spPr>
          <a:xfrm>
            <a:off x="1295400" y="4657725"/>
            <a:ext cx="655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73">
                <a:solidFill>
                  <a:srgbClr val="E9EDF8"/>
                </a:solidFill>
              </a:defRPr>
            </a:pPr>
            <a:r>
              <a:rPr sz="1073">
                <a:solidFill>
                  <a:srgbClr val="E9EDF8"/>
                </a:solidFill>
              </a:rPr>
              <a:t>  ttlMilliseconds: TRANSIT_ROUTE_CACHE_TTL_MS,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DE6F7DA-9C25-42DD-8496-04D2A537B486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7143750" cy="180975"/>
          </a:xfrm>
          <a:prstGeom prst="rect">
            <a:avLst/>
          </a:prstGeom>
          <a:solidFill>
            <a:srgbClr val="2129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4994C4A-3D6E-4A1D-B07C-6DD9E762E985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28575" cy="180975"/>
          </a:xfrm>
          <a:prstGeom prst="rect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71AECE1-EE45-4C70-9BA2-C0DFC7E9FBBA}"/>
              </a:ext>
            </a:extLst>
          </p:cNvPr>
          <p:cNvSpPr>
            <a:spLocks noGrp="1"/>
          </p:cNvSpPr>
          <p:nvPr/>
        </p:nvSpPr>
        <p:spPr>
          <a:xfrm>
            <a:off x="790575" y="48291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68">
                <a:solidFill>
                  <a:srgbClr val="8F9ABA"/>
                </a:solidFill>
              </a:defRPr>
            </a:pPr>
            <a:r>
              <a:rPr sz="968">
                <a:solidFill>
                  <a:srgbClr val="8F9ABA"/>
                </a:solidFill>
              </a:rPr>
              <a:t>14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CBA1557-62A0-423B-86CA-945D9A1AF64D}"/>
              </a:ext>
            </a:extLst>
          </p:cNvPr>
          <p:cNvSpPr>
            <a:spLocks noGrp="1"/>
          </p:cNvSpPr>
          <p:nvPr/>
        </p:nvSpPr>
        <p:spPr>
          <a:xfrm>
            <a:off x="1295400" y="4829175"/>
            <a:ext cx="6553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73">
                <a:solidFill>
                  <a:srgbClr val="E9EDF8"/>
                </a:solidFill>
              </a:defRPr>
            </a:pPr>
            <a:r>
              <a:rPr sz="1073">
                <a:solidFill>
                  <a:srgbClr val="E9EDF8"/>
                </a:solidFill>
              </a:rPr>
              <a:t>  load: async () =&gt; {</a:t>
            </a:r>
          </a:p>
        </p:txBody>
      </p:sp>
      <p:sp>
        <p:nvSpPr>
          <p:cNvPr id="53" name="모서리가 둥근 직사각형 52">
            <a:extLst>
              <a:ext uri="{FF2B5EF4-FFF2-40B4-BE49-F238E27FC236}">
                <a16:creationId xmlns:a16="http://schemas.microsoft.com/office/drawing/2014/main" id="{7CC59491-05A0-4DFA-BC88-38622B82683D}"/>
              </a:ext>
            </a:extLst>
          </p:cNvPr>
          <p:cNvSpPr>
            <a:spLocks noGrp="1"/>
          </p:cNvSpPr>
          <p:nvPr/>
        </p:nvSpPr>
        <p:spPr>
          <a:xfrm>
            <a:off x="8420100" y="2305050"/>
            <a:ext cx="2781300" cy="819150"/>
          </a:xfrm>
          <a:prstGeom prst="roundRect">
            <a:avLst>
              <a:gd name="adj" fmla="val 13953"/>
            </a:avLst>
          </a:prstGeom>
          <a:solidFill>
            <a:srgbClr val="E5FAF7"/>
          </a:solidFill>
          <a:ln w="0">
            <a:solidFill>
              <a:srgbClr val="E5FA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F0EF792-F08F-4DA4-8E62-C24EF8DA497B}"/>
              </a:ext>
            </a:extLst>
          </p:cNvPr>
          <p:cNvSpPr>
            <a:spLocks noGrp="1"/>
          </p:cNvSpPr>
          <p:nvPr/>
        </p:nvSpPr>
        <p:spPr>
          <a:xfrm>
            <a:off x="8667750" y="2505075"/>
            <a:ext cx="2266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8C7B1"/>
                </a:solidFill>
              </a:defRPr>
            </a:pPr>
            <a:r>
              <a:rPr sz="1575" b="1">
                <a:solidFill>
                  <a:srgbClr val="18C7B1"/>
                </a:solidFill>
              </a:rPr>
              <a:t>700m 미만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0C65061-1A8C-4F48-9697-9C78AB884F0A}"/>
              </a:ext>
            </a:extLst>
          </p:cNvPr>
          <p:cNvSpPr>
            <a:spLocks noGrp="1"/>
          </p:cNvSpPr>
          <p:nvPr/>
        </p:nvSpPr>
        <p:spPr>
          <a:xfrm>
            <a:off x="8667750" y="2781300"/>
            <a:ext cx="2266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15203B"/>
                </a:solidFill>
              </a:defRPr>
            </a:pPr>
            <a:r>
              <a:rPr sz="1200">
                <a:solidFill>
                  <a:srgbClr val="15203B"/>
                </a:solidFill>
              </a:rPr>
              <a:t>카카오 실제 도보 경로</a:t>
            </a: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551FC785-930A-4181-A6EC-4D86CB5A06B0}"/>
              </a:ext>
            </a:extLst>
          </p:cNvPr>
          <p:cNvSpPr>
            <a:spLocks noGrp="1"/>
          </p:cNvSpPr>
          <p:nvPr/>
        </p:nvSpPr>
        <p:spPr>
          <a:xfrm>
            <a:off x="8420100" y="3371850"/>
            <a:ext cx="2781300" cy="819150"/>
          </a:xfrm>
          <a:prstGeom prst="roundRect">
            <a:avLst>
              <a:gd name="adj" fmla="val 13953"/>
            </a:avLst>
          </a:prstGeom>
          <a:solidFill>
            <a:srgbClr val="EEEAFE"/>
          </a:solidFill>
          <a:ln w="0">
            <a:solidFill>
              <a:srgbClr val="EE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BCC96BE-C03D-4277-8A6F-470F1E41F1DB}"/>
              </a:ext>
            </a:extLst>
          </p:cNvPr>
          <p:cNvSpPr>
            <a:spLocks noGrp="1"/>
          </p:cNvSpPr>
          <p:nvPr/>
        </p:nvSpPr>
        <p:spPr>
          <a:xfrm>
            <a:off x="8667750" y="3571875"/>
            <a:ext cx="2266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4B35F6"/>
                </a:solidFill>
              </a:defRPr>
            </a:pPr>
            <a:r>
              <a:rPr sz="1575" b="1">
                <a:solidFill>
                  <a:srgbClr val="4B35F6"/>
                </a:solidFill>
              </a:rPr>
              <a:t>700m 이상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6355EB5-1D95-4D94-8271-69057A91A04F}"/>
              </a:ext>
            </a:extLst>
          </p:cNvPr>
          <p:cNvSpPr>
            <a:spLocks noGrp="1"/>
          </p:cNvSpPr>
          <p:nvPr/>
        </p:nvSpPr>
        <p:spPr>
          <a:xfrm>
            <a:off x="8667750" y="3848100"/>
            <a:ext cx="2266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15203B"/>
                </a:solidFill>
              </a:defRPr>
            </a:pPr>
            <a:r>
              <a:rPr sz="1200">
                <a:solidFill>
                  <a:srgbClr val="15203B"/>
                </a:solidFill>
              </a:rPr>
              <a:t>ODsay 대중교통 후보</a:t>
            </a:r>
          </a:p>
        </p:txBody>
      </p: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9BC9693F-E976-4161-9254-F586BEFDD4A7}"/>
              </a:ext>
            </a:extLst>
          </p:cNvPr>
          <p:cNvSpPr>
            <a:spLocks noGrp="1"/>
          </p:cNvSpPr>
          <p:nvPr/>
        </p:nvSpPr>
        <p:spPr>
          <a:xfrm>
            <a:off x="8420100" y="4438650"/>
            <a:ext cx="27813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6E57594-5844-4E72-BC64-7CB8CD38C2F7}"/>
              </a:ext>
            </a:extLst>
          </p:cNvPr>
          <p:cNvSpPr>
            <a:spLocks noGrp="1"/>
          </p:cNvSpPr>
          <p:nvPr/>
        </p:nvSpPr>
        <p:spPr>
          <a:xfrm>
            <a:off x="8667750" y="4629150"/>
            <a:ext cx="2266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같은 출발·도착 조합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CAF48724-254C-473A-88C2-44DE269F06CF}"/>
              </a:ext>
            </a:extLst>
          </p:cNvPr>
          <p:cNvSpPr>
            <a:spLocks noGrp="1"/>
          </p:cNvSpPr>
          <p:nvPr/>
        </p:nvSpPr>
        <p:spPr>
          <a:xfrm>
            <a:off x="8667750" y="4905375"/>
            <a:ext cx="2266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66718A"/>
                </a:solidFill>
              </a:defRPr>
            </a:pPr>
            <a:r>
              <a:rPr sz="1200">
                <a:solidFill>
                  <a:srgbClr val="66718A"/>
                </a:solidFill>
              </a:rPr>
              <a:t>15분 동안 캐시 재사용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0B5DB399-002A-4F26-ADB0-EFD601EB8F2E}"/>
              </a:ext>
            </a:extLst>
          </p:cNvPr>
          <p:cNvSpPr>
            <a:spLocks noGrp="1"/>
          </p:cNvSpPr>
          <p:nvPr/>
        </p:nvSpPr>
        <p:spPr>
          <a:xfrm>
            <a:off x="647700" y="6086475"/>
            <a:ext cx="800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>
                <a:solidFill>
                  <a:srgbClr val="66718A"/>
                </a:solidFill>
              </a:defRPr>
            </a:pPr>
            <a:r>
              <a:rPr sz="938">
                <a:solidFill>
                  <a:srgbClr val="66718A"/>
                </a:solidFill>
              </a:rPr>
              <a:t>실제 코드: Server/src/providers/odsay.mjs:251–280  |  대중교통 경로 캐시 TTL: 15분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D11B7C2-F820-4944-A8E7-CDBC555ECB26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10896600" cy="9525"/>
          </a:xfrm>
          <a:prstGeom prst="rect">
            <a:avLst/>
          </a:prstGeom>
          <a:solidFill>
            <a:srgbClr val="DFE3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FC77E526-228B-47C4-BB45-8A6277344D48}"/>
              </a:ext>
            </a:extLst>
          </p:cNvPr>
          <p:cNvSpPr>
            <a:spLocks noGrp="1"/>
          </p:cNvSpPr>
          <p:nvPr/>
        </p:nvSpPr>
        <p:spPr>
          <a:xfrm>
            <a:off x="647700" y="659130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6718A"/>
                </a:solidFill>
              </a:defRPr>
            </a:pPr>
            <a:r>
              <a:rPr sz="900">
                <a:solidFill>
                  <a:srgbClr val="66718A"/>
                </a:solidFill>
              </a:rPr>
              <a:t>ROUTA  |  Route Recommendation Engine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006CFF4-337C-4F88-A0BB-129D34942B7C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60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6718A"/>
                </a:solidFill>
              </a:defRPr>
            </a:pPr>
            <a:r>
              <a:rPr sz="900">
                <a:solidFill>
                  <a:srgbClr val="66718A"/>
                </a:solidFill>
              </a:rPr>
              <a:t>5 / 6</a:t>
            </a:r>
          </a:p>
        </p:txBody>
      </p:sp>
    </p:spTree>
    <p:extLst>
      <p:ext uri="{BB962C8B-B14F-4D97-AF65-F5344CB8AC3E}">
        <p14:creationId xmlns:p14="http://schemas.microsoft.com/office/powerpoint/2010/main" val="213330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8F196568-3E89-4C09-9701-A179CFAE7A93}"/>
              </a:ext>
            </a:extLst>
          </p:cNvPr>
          <p:cNvSpPr>
            <a:spLocks noGrp="1"/>
          </p:cNvSpPr>
          <p:nvPr/>
        </p:nvSpPr>
        <p:spPr>
          <a:xfrm>
            <a:off x="647700" y="4381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4B35F6"/>
                </a:solidFill>
              </a:defRPr>
            </a:pPr>
            <a:r>
              <a:rPr sz="1125" b="1">
                <a:solidFill>
                  <a:srgbClr val="4B35F6"/>
                </a:solidFill>
              </a:rPr>
              <a:t>06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81DF693-6D41-4908-9846-A5579C6F414E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685800" cy="38100"/>
          </a:xfrm>
          <a:prstGeom prst="rect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C53F146-D56E-44DA-9E41-0D4A508D6549}"/>
              </a:ext>
            </a:extLst>
          </p:cNvPr>
          <p:cNvSpPr>
            <a:spLocks noGrp="1"/>
          </p:cNvSpPr>
          <p:nvPr/>
        </p:nvSpPr>
        <p:spPr>
          <a:xfrm>
            <a:off x="647700" y="96202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 b="1">
                <a:solidFill>
                  <a:srgbClr val="0B1736"/>
                </a:solidFill>
              </a:defRPr>
            </a:pPr>
            <a:r>
              <a:rPr sz="2775" b="1">
                <a:solidFill>
                  <a:srgbClr val="0B1736"/>
                </a:solidFill>
              </a:rPr>
              <a:t>같은 일정도 사용자의 우선순위에 따라 세 가지 코스로 제안합니다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F8E1BF-F8A3-4E3E-8103-B3DA79E251AD}"/>
              </a:ext>
            </a:extLst>
          </p:cNvPr>
          <p:cNvSpPr>
            <a:spLocks noGrp="1"/>
          </p:cNvSpPr>
          <p:nvPr/>
        </p:nvSpPr>
        <p:spPr>
          <a:xfrm>
            <a:off x="666750" y="1495425"/>
            <a:ext cx="1028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6718A"/>
                </a:solidFill>
              </a:defRPr>
            </a:pPr>
            <a:r>
              <a:rPr sz="1350">
                <a:solidFill>
                  <a:srgbClr val="66718A"/>
                </a:solidFill>
              </a:rPr>
              <a:t>실제 대중교통 후보 중에서 무엇을 우선할지 바꿔, 도보 최소·최단 시간·균형 코스를 분리합니다.</a:t>
            </a:r>
          </a:p>
        </p:txBody>
      </p:sp>
      <p:sp>
        <p:nvSpPr>
          <p:cNvPr id="65" name="모서리가 둥근 직사각형 64">
            <a:extLst>
              <a:ext uri="{FF2B5EF4-FFF2-40B4-BE49-F238E27FC236}">
                <a16:creationId xmlns:a16="http://schemas.microsoft.com/office/drawing/2014/main" id="{8AE67B30-9EF0-4E5B-ACCD-9F0E1DFDD13E}"/>
              </a:ext>
            </a:extLst>
          </p:cNvPr>
          <p:cNvSpPr>
            <a:spLocks noGrp="1"/>
          </p:cNvSpPr>
          <p:nvPr/>
        </p:nvSpPr>
        <p:spPr>
          <a:xfrm>
            <a:off x="7753350" y="2238375"/>
            <a:ext cx="3371850" cy="895350"/>
          </a:xfrm>
          <a:prstGeom prst="roundRect">
            <a:avLst>
              <a:gd name="adj" fmla="val 12766"/>
            </a:avLst>
          </a:prstGeom>
          <a:solidFill>
            <a:srgbClr val="E5FAF7"/>
          </a:solidFill>
          <a:ln w="9525">
            <a:solidFill>
              <a:srgbClr val="E5FA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93B4646F-7C14-4C1B-BE86-E2A3794CB684}"/>
              </a:ext>
            </a:extLst>
          </p:cNvPr>
          <p:cNvSpPr>
            <a:spLocks noGrp="1"/>
          </p:cNvSpPr>
          <p:nvPr/>
        </p:nvSpPr>
        <p:spPr>
          <a:xfrm>
            <a:off x="8001000" y="2495550"/>
            <a:ext cx="361950" cy="361950"/>
          </a:xfrm>
          <a:prstGeom prst="ellipse">
            <a:avLst/>
          </a:prstGeom>
          <a:solidFill>
            <a:srgbClr val="18C7B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78DD8E19-16DF-4493-97FF-6EC654DEBCCF}"/>
              </a:ext>
            </a:extLst>
          </p:cNvPr>
          <p:cNvSpPr>
            <a:spLocks noGrp="1"/>
          </p:cNvSpPr>
          <p:nvPr/>
        </p:nvSpPr>
        <p:spPr>
          <a:xfrm>
            <a:off x="8553450" y="24098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B1736"/>
                </a:solidFill>
              </a:defRPr>
            </a:pPr>
            <a:r>
              <a:rPr sz="1725" b="1">
                <a:solidFill>
                  <a:srgbClr val="0B1736"/>
                </a:solidFill>
              </a:rPr>
              <a:t>도보 최소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79FABB4-2549-42DA-8A2A-9B1B33FBA142}"/>
              </a:ext>
            </a:extLst>
          </p:cNvPr>
          <p:cNvSpPr>
            <a:spLocks noGrp="1"/>
          </p:cNvSpPr>
          <p:nvPr/>
        </p:nvSpPr>
        <p:spPr>
          <a:xfrm>
            <a:off x="8553450" y="27051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>
                <a:solidFill>
                  <a:srgbClr val="66718A"/>
                </a:solidFill>
              </a:defRPr>
            </a:pPr>
            <a:r>
              <a:rPr sz="1163">
                <a:solidFill>
                  <a:srgbClr val="66718A"/>
                </a:solidFill>
              </a:rPr>
              <a:t>도보 거리 → 소요 시간 → 환승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531C73C-CAA4-493B-A27A-1934F5830D9D}"/>
              </a:ext>
            </a:extLst>
          </p:cNvPr>
          <p:cNvSpPr>
            <a:spLocks noGrp="1"/>
          </p:cNvSpPr>
          <p:nvPr/>
        </p:nvSpPr>
        <p:spPr>
          <a:xfrm>
            <a:off x="8420100" y="2914650"/>
            <a:ext cx="2286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10">
                <a:solidFill>
                  <a:srgbClr val="18C7B1"/>
                </a:solidFill>
              </a:defRPr>
            </a:pPr>
            <a:r>
              <a:rPr sz="810">
                <a:solidFill>
                  <a:srgbClr val="18C7B1"/>
                </a:solidFill>
              </a:rPr>
              <a:t>SHORTEST_WALK</a:t>
            </a:r>
          </a:p>
        </p:txBody>
      </p:sp>
      <p:sp>
        <p:nvSpPr>
          <p:cNvPr id="70" name="모서리가 둥근 직사각형 69">
            <a:extLst>
              <a:ext uri="{FF2B5EF4-FFF2-40B4-BE49-F238E27FC236}">
                <a16:creationId xmlns:a16="http://schemas.microsoft.com/office/drawing/2014/main" id="{D333F8AD-AA58-4D4D-8326-07C3F30DBA5D}"/>
              </a:ext>
            </a:extLst>
          </p:cNvPr>
          <p:cNvSpPr>
            <a:spLocks noGrp="1"/>
          </p:cNvSpPr>
          <p:nvPr/>
        </p:nvSpPr>
        <p:spPr>
          <a:xfrm>
            <a:off x="7753350" y="3362325"/>
            <a:ext cx="3371850" cy="895350"/>
          </a:xfrm>
          <a:prstGeom prst="roundRect">
            <a:avLst>
              <a:gd name="adj" fmla="val 12766"/>
            </a:avLst>
          </a:prstGeom>
          <a:solidFill>
            <a:srgbClr val="EEEAFE"/>
          </a:solidFill>
          <a:ln w="9525">
            <a:solidFill>
              <a:srgbClr val="EE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B8F69861-37F3-4C94-A8B8-66F091E7E093}"/>
              </a:ext>
            </a:extLst>
          </p:cNvPr>
          <p:cNvSpPr>
            <a:spLocks noGrp="1"/>
          </p:cNvSpPr>
          <p:nvPr/>
        </p:nvSpPr>
        <p:spPr>
          <a:xfrm>
            <a:off x="8001000" y="3619500"/>
            <a:ext cx="361950" cy="361950"/>
          </a:xfrm>
          <a:prstGeom prst="ellipse">
            <a:avLst/>
          </a:prstGeom>
          <a:solidFill>
            <a:srgbClr val="4B35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A84962D6-0922-4C17-89DE-52C888C6024A}"/>
              </a:ext>
            </a:extLst>
          </p:cNvPr>
          <p:cNvSpPr>
            <a:spLocks noGrp="1"/>
          </p:cNvSpPr>
          <p:nvPr/>
        </p:nvSpPr>
        <p:spPr>
          <a:xfrm>
            <a:off x="8553450" y="35337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B1736"/>
                </a:solidFill>
              </a:defRPr>
            </a:pPr>
            <a:r>
              <a:rPr sz="1725" b="1">
                <a:solidFill>
                  <a:srgbClr val="0B1736"/>
                </a:solidFill>
              </a:rPr>
              <a:t>최단 시간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3EA801F-ED47-4546-A0B2-6CD9DDF80856}"/>
              </a:ext>
            </a:extLst>
          </p:cNvPr>
          <p:cNvSpPr>
            <a:spLocks noGrp="1"/>
          </p:cNvSpPr>
          <p:nvPr/>
        </p:nvSpPr>
        <p:spPr>
          <a:xfrm>
            <a:off x="8553450" y="38290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>
                <a:solidFill>
                  <a:srgbClr val="66718A"/>
                </a:solidFill>
              </a:defRPr>
            </a:pPr>
            <a:r>
              <a:rPr sz="1163">
                <a:solidFill>
                  <a:srgbClr val="66718A"/>
                </a:solidFill>
              </a:rPr>
              <a:t>소요 시간 → 환승 → 도보 거리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0C130BD6-D37D-4FF0-8B11-5E6F2B3CE153}"/>
              </a:ext>
            </a:extLst>
          </p:cNvPr>
          <p:cNvSpPr>
            <a:spLocks noGrp="1"/>
          </p:cNvSpPr>
          <p:nvPr/>
        </p:nvSpPr>
        <p:spPr>
          <a:xfrm>
            <a:off x="8420100" y="4038600"/>
            <a:ext cx="2286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10">
                <a:solidFill>
                  <a:srgbClr val="4B35F6"/>
                </a:solidFill>
              </a:defRPr>
            </a:pPr>
            <a:r>
              <a:rPr sz="810">
                <a:solidFill>
                  <a:srgbClr val="4B35F6"/>
                </a:solidFill>
              </a:rPr>
              <a:t>FASTEST_TRANSIT</a:t>
            </a:r>
          </a:p>
        </p:txBody>
      </p:sp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5D95B589-A170-4B70-9590-B88553DC2C60}"/>
              </a:ext>
            </a:extLst>
          </p:cNvPr>
          <p:cNvSpPr>
            <a:spLocks noGrp="1"/>
          </p:cNvSpPr>
          <p:nvPr/>
        </p:nvSpPr>
        <p:spPr>
          <a:xfrm>
            <a:off x="7753350" y="4486275"/>
            <a:ext cx="337185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FE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35BFB852-00FC-457F-9B6D-C3ACBB554CDB}"/>
              </a:ext>
            </a:extLst>
          </p:cNvPr>
          <p:cNvSpPr>
            <a:spLocks noGrp="1"/>
          </p:cNvSpPr>
          <p:nvPr/>
        </p:nvSpPr>
        <p:spPr>
          <a:xfrm>
            <a:off x="8001000" y="4743450"/>
            <a:ext cx="361950" cy="361950"/>
          </a:xfrm>
          <a:prstGeom prst="ellipse">
            <a:avLst/>
          </a:prstGeom>
          <a:solidFill>
            <a:srgbClr val="0B173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6481E5A-05A8-4EC5-8D28-F12631FD0B89}"/>
              </a:ext>
            </a:extLst>
          </p:cNvPr>
          <p:cNvSpPr>
            <a:spLocks noGrp="1"/>
          </p:cNvSpPr>
          <p:nvPr/>
        </p:nvSpPr>
        <p:spPr>
          <a:xfrm>
            <a:off x="8553450" y="46577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B1736"/>
                </a:solidFill>
              </a:defRPr>
            </a:pPr>
            <a:r>
              <a:rPr sz="1725" b="1">
                <a:solidFill>
                  <a:srgbClr val="0B1736"/>
                </a:solidFill>
              </a:rPr>
              <a:t>균형 코스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B9F929A-321C-4A4D-8561-E9BBE7C79EED}"/>
              </a:ext>
            </a:extLst>
          </p:cNvPr>
          <p:cNvSpPr>
            <a:spLocks noGrp="1"/>
          </p:cNvSpPr>
          <p:nvPr/>
        </p:nvSpPr>
        <p:spPr>
          <a:xfrm>
            <a:off x="8553450" y="49530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63">
                <a:solidFill>
                  <a:srgbClr val="66718A"/>
                </a:solidFill>
              </a:defRPr>
            </a:pPr>
            <a:r>
              <a:rPr sz="1163">
                <a:solidFill>
                  <a:srgbClr val="66718A"/>
                </a:solidFill>
              </a:rPr>
              <a:t>시간 + 도보 + 환승 + 예상 요금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7076924-78B1-4D75-99F0-605FC7BE9D1E}"/>
              </a:ext>
            </a:extLst>
          </p:cNvPr>
          <p:cNvSpPr>
            <a:spLocks noGrp="1"/>
          </p:cNvSpPr>
          <p:nvPr/>
        </p:nvSpPr>
        <p:spPr>
          <a:xfrm>
            <a:off x="8420100" y="5162550"/>
            <a:ext cx="2286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10">
                <a:solidFill>
                  <a:srgbClr val="0B1736"/>
                </a:solidFill>
              </a:defRPr>
            </a:pPr>
            <a:r>
              <a:rPr sz="810">
                <a:solidFill>
                  <a:srgbClr val="0B1736"/>
                </a:solidFill>
              </a:rPr>
              <a:t>BALANCED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45353226-DBC3-4040-A0B1-4D6E743844FF}"/>
              </a:ext>
            </a:extLst>
          </p:cNvPr>
          <p:cNvSpPr>
            <a:spLocks noGrp="1"/>
          </p:cNvSpPr>
          <p:nvPr/>
        </p:nvSpPr>
        <p:spPr>
          <a:xfrm>
            <a:off x="647700" y="6086475"/>
            <a:ext cx="800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38">
                <a:solidFill>
                  <a:srgbClr val="66718A"/>
                </a:solidFill>
              </a:defRPr>
            </a:pPr>
            <a:r>
              <a:rPr sz="938">
                <a:solidFill>
                  <a:srgbClr val="66718A"/>
                </a:solidFill>
              </a:rPr>
              <a:t>실제 코드: Server/src/modules/recommendations/recommendation.scorer.mjs:52–70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8FB526F1-074F-4F52-8B1F-66CE81EEB20B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10896600" cy="9525"/>
          </a:xfrm>
          <a:prstGeom prst="rect">
            <a:avLst/>
          </a:prstGeom>
          <a:solidFill>
            <a:srgbClr val="DFE3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B5455091-3B9B-4937-87D7-45C73251A834}"/>
              </a:ext>
            </a:extLst>
          </p:cNvPr>
          <p:cNvSpPr>
            <a:spLocks noGrp="1"/>
          </p:cNvSpPr>
          <p:nvPr/>
        </p:nvSpPr>
        <p:spPr>
          <a:xfrm>
            <a:off x="647700" y="659130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6718A"/>
                </a:solidFill>
              </a:defRPr>
            </a:pPr>
            <a:r>
              <a:rPr sz="900">
                <a:solidFill>
                  <a:srgbClr val="66718A"/>
                </a:solidFill>
              </a:rPr>
              <a:t>ROUTA  |  Route Recommendation Engine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1D9F19E7-E93C-4D8D-9613-94320B2B35AA}"/>
              </a:ext>
            </a:extLst>
          </p:cNvPr>
          <p:cNvSpPr>
            <a:spLocks noGrp="1"/>
          </p:cNvSpPr>
          <p:nvPr/>
        </p:nvSpPr>
        <p:spPr>
          <a:xfrm>
            <a:off x="10934700" y="6591300"/>
            <a:ext cx="60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6718A"/>
                </a:solidFill>
              </a:defRPr>
            </a:pPr>
            <a:r>
              <a:rPr sz="900">
                <a:solidFill>
                  <a:srgbClr val="66718A"/>
                </a:solidFill>
              </a:rPr>
              <a:t>6 / 6</a:t>
            </a:r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CCA49612-7B84-1A57-C5BF-FD6B9C468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463" y="2121408"/>
            <a:ext cx="5744905" cy="345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1826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1346</Words>
  <Application>Microsoft Macintosh PowerPoint</Application>
  <DocSecurity>0</DocSecurity>
  <PresentationFormat>와이드스크린</PresentationFormat>
  <Paragraphs>191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8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송정근</cp:lastModifiedBy>
  <cp:revision>2</cp:revision>
  <dcterms:created xsi:type="dcterms:W3CDTF">2026-08-12T23:45:15Z</dcterms:created>
  <dcterms:modified xsi:type="dcterms:W3CDTF">2026-08-12T23:55:58Z</dcterms:modified>
</cp:coreProperties>
</file>